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4" r:id="rId7"/>
    <p:sldId id="266" r:id="rId8"/>
    <p:sldId id="267" r:id="rId9"/>
    <p:sldId id="260" r:id="rId10"/>
    <p:sldId id="268" r:id="rId11"/>
    <p:sldId id="261" r:id="rId12"/>
    <p:sldId id="270" r:id="rId13"/>
    <p:sldId id="269" r:id="rId14"/>
    <p:sldId id="272" r:id="rId15"/>
    <p:sldId id="271" r:id="rId16"/>
    <p:sldId id="273" r:id="rId17"/>
    <p:sldId id="262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Proyecto SCP	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Mikel </a:t>
            </a:r>
            <a:r>
              <a:rPr lang="es-ES" dirty="0" err="1" smtClean="0"/>
              <a:t>Dalmau</a:t>
            </a:r>
            <a:r>
              <a:rPr lang="es-ES" dirty="0" smtClean="0"/>
              <a:t> y </a:t>
            </a:r>
            <a:r>
              <a:rPr lang="es-ES" dirty="0" err="1" smtClean="0"/>
              <a:t>Jose</a:t>
            </a:r>
            <a:r>
              <a:rPr lang="es-ES" dirty="0" smtClean="0"/>
              <a:t> Ángel </a:t>
            </a:r>
            <a:r>
              <a:rPr lang="es-ES" dirty="0" err="1" smtClean="0"/>
              <a:t>Gumiel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227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2800" dirty="0" smtClean="0"/>
              <a:t>Programa Serie</a:t>
            </a:r>
          </a:p>
          <a:p>
            <a:endParaRPr lang="es-ES" sz="2800" dirty="0"/>
          </a:p>
          <a:p>
            <a:r>
              <a:rPr lang="es-ES" sz="2800" dirty="0" smtClean="0"/>
              <a:t>Programa Paralelo – Fase 1</a:t>
            </a:r>
          </a:p>
          <a:p>
            <a:endParaRPr lang="es-ES" sz="2800" dirty="0"/>
          </a:p>
          <a:p>
            <a:r>
              <a:rPr lang="es-ES" sz="2800" dirty="0" smtClean="0"/>
              <a:t>Programa Paralelo – Fase 2</a:t>
            </a:r>
          </a:p>
          <a:p>
            <a:endParaRPr lang="es-ES" sz="2800" dirty="0"/>
          </a:p>
          <a:p>
            <a:r>
              <a:rPr lang="es-ES" sz="2800" dirty="0" smtClean="0"/>
              <a:t>Posibles Mejoras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21324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Programa Serie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800" dirty="0" smtClean="0"/>
          </a:p>
          <a:p>
            <a:r>
              <a:rPr lang="es-ES" sz="2800" dirty="0" smtClean="0"/>
              <a:t>¿En qué consiste el programa?</a:t>
            </a:r>
          </a:p>
          <a:p>
            <a:endParaRPr lang="es-ES" sz="2800" dirty="0" smtClean="0"/>
          </a:p>
          <a:p>
            <a:r>
              <a:rPr lang="es-ES" sz="2800" dirty="0" smtClean="0"/>
              <a:t>¿Por qué se quiere paralelizar?</a:t>
            </a:r>
          </a:p>
          <a:p>
            <a:endParaRPr lang="es-ES" sz="2800" dirty="0" smtClean="0"/>
          </a:p>
        </p:txBody>
      </p:sp>
    </p:spTree>
    <p:extLst>
      <p:ext uri="{BB962C8B-B14F-4D97-AF65-F5344CB8AC3E}">
        <p14:creationId xmlns:p14="http://schemas.microsoft.com/office/powerpoint/2010/main" val="301082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Programa Serie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70233" y="2133599"/>
            <a:ext cx="4191416" cy="3777622"/>
          </a:xfrm>
        </p:spPr>
        <p:txBody>
          <a:bodyPr>
            <a:normAutofit/>
          </a:bodyPr>
          <a:lstStyle/>
          <a:p>
            <a:r>
              <a:rPr lang="es-ES" sz="2400" dirty="0" err="1"/>
              <a:t>h</a:t>
            </a:r>
            <a:r>
              <a:rPr lang="es-ES" sz="2400" dirty="0" err="1" smtClean="0"/>
              <a:t>eats.c</a:t>
            </a:r>
            <a:endParaRPr lang="es-ES" sz="2400" dirty="0" smtClean="0"/>
          </a:p>
          <a:p>
            <a:pPr lvl="1"/>
            <a:r>
              <a:rPr lang="es-ES" sz="2000" dirty="0" smtClean="0"/>
              <a:t>Contiene </a:t>
            </a:r>
            <a:r>
              <a:rPr lang="es-ES" sz="2000" dirty="0"/>
              <a:t>la función </a:t>
            </a:r>
            <a:r>
              <a:rPr lang="es-ES" sz="2000" dirty="0" err="1" smtClean="0"/>
              <a:t>main</a:t>
            </a:r>
            <a:r>
              <a:rPr lang="es-ES" sz="2000" dirty="0" smtClean="0"/>
              <a:t>.</a:t>
            </a:r>
            <a:endParaRPr lang="es-ES" sz="2000" dirty="0"/>
          </a:p>
          <a:p>
            <a:pPr lvl="1"/>
            <a:r>
              <a:rPr lang="es-ES" sz="2000" dirty="0" smtClean="0"/>
              <a:t>Inicializar las configuraciones.</a:t>
            </a:r>
          </a:p>
          <a:p>
            <a:pPr lvl="1"/>
            <a:r>
              <a:rPr lang="es-ES" sz="2000" dirty="0" smtClean="0"/>
              <a:t>Almacena los resultados.</a:t>
            </a:r>
          </a:p>
          <a:p>
            <a:pPr lvl="1"/>
            <a:endParaRPr lang="es-ES" sz="2000" dirty="0"/>
          </a:p>
          <a:p>
            <a:pPr marL="0" indent="0">
              <a:buNone/>
            </a:pPr>
            <a:r>
              <a:rPr lang="es-ES" sz="2400" dirty="0" smtClean="0"/>
              <a:t>Parámetros:</a:t>
            </a:r>
          </a:p>
          <a:p>
            <a:pPr marL="457200" lvl="1" indent="0">
              <a:buNone/>
            </a:pPr>
            <a:r>
              <a:rPr lang="es-ES" sz="2000" dirty="0" smtClean="0"/>
              <a:t>Fichero de configuraciones (card0).</a:t>
            </a:r>
            <a:endParaRPr lang="es-ES" sz="20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7104184" y="2133599"/>
            <a:ext cx="4400427" cy="40561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 err="1" smtClean="0"/>
              <a:t>difussion.c</a:t>
            </a:r>
            <a:endParaRPr lang="es-ES" sz="2400" dirty="0" smtClean="0"/>
          </a:p>
          <a:p>
            <a:pPr lvl="1"/>
            <a:r>
              <a:rPr lang="es-ES" sz="2000" dirty="0" smtClean="0"/>
              <a:t>Se encarga de simular la difusión del calor en la placa.</a:t>
            </a:r>
          </a:p>
          <a:p>
            <a:pPr lvl="1"/>
            <a:endParaRPr lang="es-ES" sz="2000" dirty="0" smtClean="0"/>
          </a:p>
          <a:p>
            <a:pPr lvl="1"/>
            <a:endParaRPr lang="es-ES" sz="2000" dirty="0" smtClean="0"/>
          </a:p>
          <a:p>
            <a:pPr lvl="1"/>
            <a:endParaRPr lang="es-ES" sz="2000" dirty="0"/>
          </a:p>
          <a:p>
            <a:pPr marL="0" indent="0">
              <a:buNone/>
            </a:pPr>
            <a:r>
              <a:rPr lang="es-ES" sz="2400" dirty="0"/>
              <a:t>Parámetros:</a:t>
            </a:r>
          </a:p>
          <a:p>
            <a:pPr marL="457200" lvl="1" indent="0">
              <a:buNone/>
            </a:pPr>
            <a:r>
              <a:rPr lang="es-ES" sz="2000" dirty="0" smtClean="0"/>
              <a:t>Malla vacía(</a:t>
            </a:r>
            <a:r>
              <a:rPr lang="es-ES" sz="2000" dirty="0" err="1" smtClean="0"/>
              <a:t>grid_chips</a:t>
            </a:r>
            <a:r>
              <a:rPr lang="es-ES" sz="2000" dirty="0" smtClean="0"/>
              <a:t>).</a:t>
            </a:r>
          </a:p>
          <a:p>
            <a:pPr marL="457200" lvl="1" indent="0">
              <a:buNone/>
            </a:pPr>
            <a:r>
              <a:rPr lang="es-ES" sz="2000" dirty="0" smtClean="0"/>
              <a:t>Malla de chips.</a:t>
            </a:r>
            <a:endParaRPr lang="es-ES" sz="2000" dirty="0"/>
          </a:p>
          <a:p>
            <a:pPr lvl="1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94068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Reparto del dominio del problema</a:t>
            </a:r>
            <a:endParaRPr lang="es-ES" dirty="0"/>
          </a:p>
        </p:txBody>
      </p:sp>
      <p:pic>
        <p:nvPicPr>
          <p:cNvPr id="6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44" y="2974145"/>
            <a:ext cx="5986596" cy="2538620"/>
          </a:xfrm>
          <a:prstGeom prst="rect">
            <a:avLst/>
          </a:prstGeom>
        </p:spPr>
      </p:pic>
      <p:sp>
        <p:nvSpPr>
          <p:cNvPr id="7" name="Marcador de contenido 2"/>
          <p:cNvSpPr txBox="1">
            <a:spLocks/>
          </p:cNvSpPr>
          <p:nvPr/>
        </p:nvSpPr>
        <p:spPr>
          <a:xfrm>
            <a:off x="6935372" y="3418150"/>
            <a:ext cx="4400427" cy="1650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 smtClean="0"/>
              <a:t>Crear el reparto.</a:t>
            </a:r>
          </a:p>
          <a:p>
            <a:pPr lvl="1"/>
            <a:r>
              <a:rPr lang="es-ES" sz="2200" dirty="0" smtClean="0"/>
              <a:t>Vectores de tamaño y desplazamiento.</a:t>
            </a:r>
          </a:p>
          <a:p>
            <a:endParaRPr lang="es-ES" sz="2400" dirty="0" smtClean="0"/>
          </a:p>
        </p:txBody>
      </p:sp>
    </p:spTree>
    <p:extLst>
      <p:ext uri="{BB962C8B-B14F-4D97-AF65-F5344CB8AC3E}">
        <p14:creationId xmlns:p14="http://schemas.microsoft.com/office/powerpoint/2010/main" val="262551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Distribución del dominio del problema</a:t>
            </a:r>
            <a:endParaRPr lang="es-ES" dirty="0"/>
          </a:p>
        </p:txBody>
      </p:sp>
      <p:pic>
        <p:nvPicPr>
          <p:cNvPr id="9" name="Marcador de contenido 8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961" t="39664" r="41278" b="52836"/>
          <a:stretch/>
        </p:blipFill>
        <p:spPr>
          <a:xfrm>
            <a:off x="387961" y="2447779"/>
            <a:ext cx="11498507" cy="108321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3"/>
          <a:srcRect l="12014" t="53702" r="22248" b="36298"/>
          <a:stretch/>
        </p:blipFill>
        <p:spPr>
          <a:xfrm>
            <a:off x="387399" y="4487591"/>
            <a:ext cx="11513867" cy="98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9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Difussion.c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92925" y="2649415"/>
            <a:ext cx="4149213" cy="3777622"/>
          </a:xfrm>
        </p:spPr>
        <p:txBody>
          <a:bodyPr/>
          <a:lstStyle/>
          <a:p>
            <a:r>
              <a:rPr lang="es-ES" sz="2400" dirty="0" smtClean="0"/>
              <a:t>Problema de la frontera</a:t>
            </a:r>
          </a:p>
          <a:p>
            <a:pPr lvl="1"/>
            <a:r>
              <a:rPr lang="es-ES" sz="2000" dirty="0" smtClean="0"/>
              <a:t>Esta función requiere de los puntos anteriores y posteriores. Trabajar con memoria distribuida ocasiona la aparición del problema de la frontera.</a:t>
            </a:r>
            <a:endParaRPr lang="es-ES" dirty="0" smtClean="0"/>
          </a:p>
          <a:p>
            <a:pPr lvl="1"/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768" y="2649415"/>
            <a:ext cx="4721467" cy="274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2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Intercambio de Fronteras</a:t>
            </a:r>
            <a:endParaRPr lang="es-E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138" y="2133600"/>
            <a:ext cx="5699550" cy="3778250"/>
          </a:xfrm>
        </p:spPr>
      </p:pic>
    </p:spTree>
    <p:extLst>
      <p:ext uri="{BB962C8B-B14F-4D97-AF65-F5344CB8AC3E}">
        <p14:creationId xmlns:p14="http://schemas.microsoft.com/office/powerpoint/2010/main" val="227430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Resultados – Fase 1</a:t>
            </a:r>
            <a:endParaRPr lang="es-ES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013829"/>
              </p:ext>
            </p:extLst>
          </p:nvPr>
        </p:nvGraphicFramePr>
        <p:xfrm>
          <a:off x="2589213" y="2124222"/>
          <a:ext cx="8915400" cy="3346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995"/>
                <a:gridCol w="2137165"/>
                <a:gridCol w="1783080"/>
                <a:gridCol w="1783080"/>
                <a:gridCol w="1783080"/>
              </a:tblGrid>
              <a:tr h="380218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Nª Procesadores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 Tiempo (s)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Speed</a:t>
                      </a:r>
                      <a:r>
                        <a:rPr lang="es-ES" dirty="0" smtClean="0"/>
                        <a:t>-up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Eficiencia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Serie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2400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-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-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Paralelo</a:t>
                      </a:r>
                      <a:endParaRPr lang="es-ES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1235.07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1.94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0.97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607.01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3.95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0.99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363.25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6.61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0.83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254.95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9.41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0.78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16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202.72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11.84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0.74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153.23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15.66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0.65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32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127.04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18.89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0.59</a:t>
                      </a:r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65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– Fase 1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068" y="1905000"/>
            <a:ext cx="4927544" cy="40059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703" y="1914402"/>
            <a:ext cx="4908737" cy="399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7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Fase 2 - Reparto grupal de las tareas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 smtClean="0"/>
              <a:t>Solapamiento del cálculo y las comunicaciones</a:t>
            </a:r>
          </a:p>
          <a:p>
            <a:endParaRPr lang="es-ES" sz="2800" dirty="0" smtClean="0"/>
          </a:p>
          <a:p>
            <a:r>
              <a:rPr lang="es-ES" sz="2800" dirty="0" smtClean="0"/>
              <a:t>Reparto dinámico de la carga</a:t>
            </a:r>
          </a:p>
          <a:p>
            <a:pPr marL="457200" lvl="1" indent="0">
              <a:buNone/>
            </a:pPr>
            <a:r>
              <a:rPr lang="es-ES" sz="2600" dirty="0" smtClean="0"/>
              <a:t>Manager-</a:t>
            </a:r>
            <a:r>
              <a:rPr lang="es-ES" sz="2600" dirty="0" err="1" smtClean="0"/>
              <a:t>Worker</a:t>
            </a:r>
            <a:endParaRPr lang="es-ES" sz="2600" dirty="0"/>
          </a:p>
        </p:txBody>
      </p:sp>
    </p:spTree>
    <p:extLst>
      <p:ext uri="{BB962C8B-B14F-4D97-AF65-F5344CB8AC3E}">
        <p14:creationId xmlns:p14="http://schemas.microsoft.com/office/powerpoint/2010/main" val="179729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Solapamiento del cálculo y las comunicaciones</a:t>
            </a: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3985759" cy="3777622"/>
          </a:xfrm>
        </p:spPr>
        <p:txBody>
          <a:bodyPr/>
          <a:lstStyle/>
          <a:p>
            <a:r>
              <a:rPr lang="es-ES" dirty="0" smtClean="0"/>
              <a:t>Antes:</a:t>
            </a:r>
          </a:p>
          <a:p>
            <a:pPr marL="0" indent="0">
              <a:buNone/>
            </a:pPr>
            <a:r>
              <a:rPr lang="es-ES" dirty="0" smtClean="0"/>
              <a:t>Envíos/Recepciones bloqueantes de las fronteras.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Difusión térmica.</a:t>
            </a:r>
            <a:endParaRPr lang="es-ES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7705498" y="2133600"/>
            <a:ext cx="398575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Ahora:</a:t>
            </a:r>
          </a:p>
          <a:p>
            <a:pPr marL="0" indent="0">
              <a:buNone/>
            </a:pPr>
            <a:r>
              <a:rPr lang="es-ES" dirty="0" smtClean="0"/>
              <a:t>Envíos/Recepciones inmediatas de las fronteras.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Difusión térmica parcial.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Comprobación de los envíos y recepciones.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Difusión térmica de las fronteras.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2260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Solapamiento del cálculo y las comunicaciones</a:t>
            </a:r>
            <a:br>
              <a:rPr lang="es-ES" dirty="0"/>
            </a:b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78" t="38799" r="29376" b="17407"/>
          <a:stretch/>
        </p:blipFill>
        <p:spPr>
          <a:xfrm>
            <a:off x="849975" y="2191657"/>
            <a:ext cx="10864075" cy="38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0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Reparto dinámico </a:t>
            </a:r>
            <a:r>
              <a:rPr lang="es-ES" dirty="0" smtClean="0"/>
              <a:t>– Manager </a:t>
            </a:r>
            <a:r>
              <a:rPr lang="es-ES" dirty="0" err="1" smtClean="0"/>
              <a:t>Worker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Un manager reparte tareas a grupos de nodos</a:t>
            </a:r>
          </a:p>
          <a:p>
            <a:r>
              <a:rPr lang="es-ES" dirty="0" smtClean="0"/>
              <a:t>Cada grupo tiene un nodo “maestro” que se comunica con el manager.</a:t>
            </a:r>
          </a:p>
          <a:p>
            <a:r>
              <a:rPr lang="es-ES" dirty="0" smtClean="0"/>
              <a:t>Los grupos son independientes entre sí.</a:t>
            </a:r>
          </a:p>
          <a:p>
            <a:r>
              <a:rPr lang="es-ES" dirty="0" smtClean="0"/>
              <a:t>Las tareas se reparten bajo demanda tras el reparto inicial.</a:t>
            </a:r>
          </a:p>
          <a:p>
            <a:r>
              <a:rPr lang="es-ES" dirty="0" smtClean="0"/>
              <a:t>Cuando no hay más tareas se recogen los resultados.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531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Los comunicadores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1905000"/>
            <a:ext cx="4588524" cy="3778250"/>
          </a:xfrm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7460343" y="1905628"/>
            <a:ext cx="404426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 utiliza el álgebra modular para asignar los índices dentro de los nuevos comunicadores (</a:t>
            </a:r>
            <a:r>
              <a:rPr lang="es-ES" dirty="0" err="1" smtClean="0"/>
              <a:t>key</a:t>
            </a:r>
            <a:r>
              <a:rPr lang="es-ES" dirty="0" smtClean="0"/>
              <a:t>).</a:t>
            </a:r>
          </a:p>
          <a:p>
            <a:endParaRPr lang="es-ES" dirty="0" smtClean="0"/>
          </a:p>
          <a:p>
            <a:r>
              <a:rPr lang="es-ES" dirty="0" smtClean="0"/>
              <a:t>Se recibe por parámetro en el programa el número de grupos a crear.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445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Envío de las configuraciones</a:t>
            </a:r>
            <a:endParaRPr lang="es-E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48" t="19836" r="45059" b="75704"/>
          <a:stretch/>
        </p:blipFill>
        <p:spPr>
          <a:xfrm>
            <a:off x="875686" y="3149599"/>
            <a:ext cx="10980053" cy="740229"/>
          </a:xfrm>
          <a:prstGeom prst="rect">
            <a:avLst/>
          </a:prstGeom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2592925" y="1905628"/>
            <a:ext cx="9262814" cy="89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 utiliza un nuevo tipo de dato (</a:t>
            </a:r>
            <a:r>
              <a:rPr lang="es-ES" dirty="0" err="1" smtClean="0"/>
              <a:t>struct</a:t>
            </a:r>
            <a:r>
              <a:rPr lang="es-ES" dirty="0" smtClean="0"/>
              <a:t>) para el envío de las configuraciones.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749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– Fase </a:t>
            </a:r>
            <a:r>
              <a:rPr lang="es-ES" dirty="0" smtClean="0"/>
              <a:t>2</a:t>
            </a:r>
            <a:endParaRPr lang="es-ES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041275"/>
              </p:ext>
            </p:extLst>
          </p:nvPr>
        </p:nvGraphicFramePr>
        <p:xfrm>
          <a:off x="2589213" y="2133600"/>
          <a:ext cx="89154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Marcador de contenid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94408"/>
              </p:ext>
            </p:extLst>
          </p:nvPr>
        </p:nvGraphicFramePr>
        <p:xfrm>
          <a:off x="2589213" y="2124222"/>
          <a:ext cx="8915400" cy="3346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995"/>
                <a:gridCol w="2137165"/>
                <a:gridCol w="1783080"/>
                <a:gridCol w="1783080"/>
                <a:gridCol w="1783080"/>
              </a:tblGrid>
              <a:tr h="380218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Nª Procesadores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 Tiempo (s)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Speed</a:t>
                      </a:r>
                      <a:r>
                        <a:rPr lang="es-ES" dirty="0" smtClean="0"/>
                        <a:t>-up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Eficiencia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Serie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2400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-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-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Paralelo</a:t>
                      </a:r>
                      <a:endParaRPr lang="es-ES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317.61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1.556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0.84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207.03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11.593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0.89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17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150.59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15.948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0.94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119.71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20.049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0.95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99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24.243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0.97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85.87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27.948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0.96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33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74.4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32.258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0.95</a:t>
                      </a:r>
                      <a:endParaRPr lang="es-E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2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– Fase 2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93" t="36879" r="29809" b="18175"/>
          <a:stretch/>
        </p:blipFill>
        <p:spPr>
          <a:xfrm>
            <a:off x="1059468" y="1905000"/>
            <a:ext cx="1059570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83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89" t="23861" r="25056" b="43144"/>
          <a:stretch/>
        </p:blipFill>
        <p:spPr>
          <a:xfrm>
            <a:off x="353064" y="1306285"/>
            <a:ext cx="11658461" cy="4252686"/>
          </a:xfrm>
          <a:prstGeom prst="rect">
            <a:avLst/>
          </a:prstGeom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3358508" y="5722885"/>
            <a:ext cx="5647571" cy="89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smtClean="0"/>
              <a:t>Verde= 3 grupos; Rojo=5 grupos; Azul=2 </a:t>
            </a:r>
            <a:r>
              <a:rPr lang="es-ES" dirty="0"/>
              <a:t>grupos</a:t>
            </a:r>
          </a:p>
        </p:txBody>
      </p:sp>
    </p:spTree>
    <p:extLst>
      <p:ext uri="{BB962C8B-B14F-4D97-AF65-F5344CB8AC3E}">
        <p14:creationId xmlns:p14="http://schemas.microsoft.com/office/powerpoint/2010/main" val="3577498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34971" y="3178625"/>
            <a:ext cx="5312230" cy="1280890"/>
          </a:xfrm>
        </p:spPr>
        <p:txBody>
          <a:bodyPr/>
          <a:lstStyle/>
          <a:p>
            <a:r>
              <a:rPr lang="es-ES" dirty="0" smtClean="0"/>
              <a:t>¿Alguna pregunta?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724013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409</TotalTime>
  <Words>430</Words>
  <Application>Microsoft Office PowerPoint</Application>
  <PresentationFormat>Panorámica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Espiral</vt:lpstr>
      <vt:lpstr>Proyecto SCP </vt:lpstr>
      <vt:lpstr>Introducción</vt:lpstr>
      <vt:lpstr>Programa Serie</vt:lpstr>
      <vt:lpstr>Programa Serie</vt:lpstr>
      <vt:lpstr>Reparto del dominio del problema</vt:lpstr>
      <vt:lpstr>Distribución del dominio del problema</vt:lpstr>
      <vt:lpstr>Difussion.c</vt:lpstr>
      <vt:lpstr>Intercambio de Fronteras</vt:lpstr>
      <vt:lpstr>Resultados – Fase 1</vt:lpstr>
      <vt:lpstr>Resultados – Fase 1</vt:lpstr>
      <vt:lpstr>Fase 2 - Reparto grupal de las tareas</vt:lpstr>
      <vt:lpstr>Solapamiento del cálculo y las comunicaciones </vt:lpstr>
      <vt:lpstr>Solapamiento del cálculo y las comunicaciones </vt:lpstr>
      <vt:lpstr>Reparto dinámico – Manager Worker</vt:lpstr>
      <vt:lpstr>Los comunicadores</vt:lpstr>
      <vt:lpstr>Envío de las configuraciones</vt:lpstr>
      <vt:lpstr>Resultados – Fase 2</vt:lpstr>
      <vt:lpstr>Resultados – Fase 2</vt:lpstr>
      <vt:lpstr>Presentación de PowerPoint</vt:lpstr>
      <vt:lpstr>¿Alguna pregunta?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SCP</dc:title>
  <dc:creator>Jose Ángel Gumiel</dc:creator>
  <cp:lastModifiedBy>Jose Ángel Gumiel</cp:lastModifiedBy>
  <cp:revision>28</cp:revision>
  <dcterms:created xsi:type="dcterms:W3CDTF">2016-05-23T13:12:42Z</dcterms:created>
  <dcterms:modified xsi:type="dcterms:W3CDTF">2016-05-23T20:02:18Z</dcterms:modified>
</cp:coreProperties>
</file>