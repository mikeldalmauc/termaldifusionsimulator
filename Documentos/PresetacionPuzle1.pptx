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comments/comment1.xml" ContentType="application/vnd.openxmlformats-officedocument.presentationml.comments+xml"/>
  <Override PartName="/ppt/comments/comment2.xml" ContentType="application/vnd.openxmlformats-officedocument.presentationml.comments+xml"/>
  <Override PartName="/ppt/comments/comment3.xml" ContentType="application/vnd.openxmlformats-officedocument.presentationml.comments+xml"/>
  <Override PartName="/ppt/comments/comment4.xml" ContentType="application/vnd.openxmlformats-officedocument.presentationml.comments+xml"/>
  <Override PartName="/ppt/comments/comment5.xml" ContentType="application/vnd.openxmlformats-officedocument.presentationml.comments+xml"/>
  <Override PartName="/ppt/comments/comment6.xml" ContentType="application/vnd.openxmlformats-officedocument.presentationml.comments+xml"/>
  <Override PartName="/ppt/comments/comment7.xml" ContentType="application/vnd.openxmlformats-officedocument.presentationml.comments+xml"/>
  <Override PartName="/ppt/comments/comment8.xml" ContentType="application/vnd.openxmlformats-officedocument.presentationml.comments+xml"/>
  <Override PartName="/ppt/comments/comment9.xml" ContentType="application/vnd.openxmlformats-officedocument.presentationml.comments+xml"/>
  <Override PartName="/ppt/comments/comment10.xml" ContentType="application/vnd.openxmlformats-officedocument.presentationml.comments+xml"/>
  <Override PartName="/ppt/comments/comment11.xml" ContentType="application/vnd.openxmlformats-officedocument.presentationml.comments+xml"/>
  <Override PartName="/ppt/comments/comment12.xml" ContentType="application/vnd.openxmlformats-officedocument.presentationml.comments+xml"/>
  <Override PartName="/ppt/comments/comment13.xml" ContentType="application/vnd.openxmlformats-officedocument.presentationml.comments+xml"/>
  <Override PartName="/ppt/comments/comment14.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kel" initials="M" lastIdx="14" clrIdx="0">
    <p:extLst>
      <p:ext uri="{19B8F6BF-5375-455C-9EA6-DF929625EA0E}">
        <p15:presenceInfo xmlns:p15="http://schemas.microsoft.com/office/powerpoint/2012/main" userId="Mikel" providerId="None"/>
      </p:ext>
    </p:extLst>
  </p:cmAuthor>
  <p:cmAuthor id="2" name="Jose Ángel Gumiel" initials="JÁG" lastIdx="9" clrIdx="1">
    <p:extLst>
      <p:ext uri="{19B8F6BF-5375-455C-9EA6-DF929625EA0E}">
        <p15:presenceInfo xmlns:p15="http://schemas.microsoft.com/office/powerpoint/2012/main" userId="738d1526714540fe"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6" d="100"/>
          <a:sy n="116" d="100"/>
        </p:scale>
        <p:origin x="336"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commentAuthors" Target="commentAuthor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16-04-04T19:17:35.491" idx="1">
    <p:pos x="10" y="10"/>
    <p:text>Holaa</p:text>
    <p:extLst>
      <p:ext uri="{C676402C-5697-4E1C-873F-D02D1690AC5C}">
        <p15:threadingInfo xmlns:p15="http://schemas.microsoft.com/office/powerpoint/2012/main" timeZoneBias="-120"/>
      </p:ext>
    </p:extLst>
  </p:cm>
</p:cmLst>
</file>

<file path=ppt/comments/comment2.xml><?xml version="1.0" encoding="utf-8"?>
<p:cmLst xmlns:a="http://schemas.openxmlformats.org/drawingml/2006/main" xmlns:r="http://schemas.openxmlformats.org/officeDocument/2006/relationships" xmlns:p="http://schemas.openxmlformats.org/presentationml/2006/main">
  <p:cm authorId="1" dt="2016-04-05T08:41:03.223" idx="3">
    <p:pos x="10" y="10"/>
    <p:text>La clave de las comunicaciones colectivas es que existe un grupo en el que se va a realizar la comunicación. Que permite crear otros modelos más eficientes a la comunicación punto a punto.</p:text>
    <p:extLst>
      <p:ext uri="{C676402C-5697-4E1C-873F-D02D1690AC5C}">
        <p15:threadingInfo xmlns:p15="http://schemas.microsoft.com/office/powerpoint/2012/main" timeZoneBias="-120"/>
      </p:ext>
    </p:extLst>
  </p:cm>
</p:cmLst>
</file>

<file path=ppt/comments/comment3.xml><?xml version="1.0" encoding="utf-8"?>
<p:cmLst xmlns:a="http://schemas.openxmlformats.org/drawingml/2006/main" xmlns:r="http://schemas.openxmlformats.org/officeDocument/2006/relationships" xmlns:p="http://schemas.openxmlformats.org/presentationml/2006/main">
  <p:cm authorId="1" dt="2016-04-05T08:40:31.951" idx="2">
    <p:pos x="10" y="10"/>
    <p:text>Aquí hay que explicar que el crecimiento de una operación de reducción punto a punto es lineal en n, el líder recibe un dato de cada proceso y lo suma. En cambio, distribyuendo la carga de trabajo en forma de árbol, la raíz (el nodo que más trabaja ) su trabajo aumenta logarítmicamente, esto es la altura del árbol. Realizará tres recepciones y tres operaciones.</p:text>
    <p:extLst>
      <p:ext uri="{C676402C-5697-4E1C-873F-D02D1690AC5C}">
        <p15:threadingInfo xmlns:p15="http://schemas.microsoft.com/office/powerpoint/2012/main" timeZoneBias="-120"/>
      </p:ext>
    </p:extLst>
  </p:cm>
</p:cmLst>
</file>

<file path=ppt/comments/comment4.xml><?xml version="1.0" encoding="utf-8"?>
<p:cmLst xmlns:a="http://schemas.openxmlformats.org/drawingml/2006/main" xmlns:r="http://schemas.openxmlformats.org/officeDocument/2006/relationships" xmlns:p="http://schemas.openxmlformats.org/presentationml/2006/main">
  <p:cm authorId="1" dt="2016-04-05T08:44:51.228" idx="4">
    <p:pos x="10" y="10"/>
    <p:text>El modelo anterior correspondería a all to one.</p:text>
    <p:extLst>
      <p:ext uri="{C676402C-5697-4E1C-873F-D02D1690AC5C}">
        <p15:threadingInfo xmlns:p15="http://schemas.microsoft.com/office/powerpoint/2012/main" timeZoneBias="-120"/>
      </p:ext>
    </p:extLst>
  </p:cm>
</p:cmLst>
</file>

<file path=ppt/comments/comment5.xml><?xml version="1.0" encoding="utf-8"?>
<p:cmLst xmlns:a="http://schemas.openxmlformats.org/drawingml/2006/main" xmlns:r="http://schemas.openxmlformats.org/officeDocument/2006/relationships" xmlns:p="http://schemas.openxmlformats.org/presentationml/2006/main">
  <p:cm authorId="1" dt="2016-04-05T08:45:15.376" idx="5">
    <p:pos x="10" y="10"/>
    <p:text>Otro modelo de comunicación, inverso al de reducción o gather. Para realizar broadcast.</p:text>
    <p:extLst>
      <p:ext uri="{C676402C-5697-4E1C-873F-D02D1690AC5C}">
        <p15:threadingInfo xmlns:p15="http://schemas.microsoft.com/office/powerpoint/2012/main" timeZoneBias="-120"/>
      </p:ext>
    </p:extLst>
  </p:cm>
</p:cmLst>
</file>

<file path=ppt/comments/comment6.xml><?xml version="1.0" encoding="utf-8"?>
<p:cmLst xmlns:a="http://schemas.openxmlformats.org/drawingml/2006/main" xmlns:r="http://schemas.openxmlformats.org/officeDocument/2006/relationships" xmlns:p="http://schemas.openxmlformats.org/presentationml/2006/main">
  <p:cm authorId="1" dt="2016-04-05T08:46:04.342" idx="6">
    <p:pos x="10" y="10"/>
    <p:text>Este modelo implementa una comunicacion all to all , en este xaso en un all reduce, y es como si se contruyeran n árboles.</p:text>
    <p:extLst>
      <p:ext uri="{C676402C-5697-4E1C-873F-D02D1690AC5C}">
        <p15:threadingInfo xmlns:p15="http://schemas.microsoft.com/office/powerpoint/2012/main" timeZoneBias="-120"/>
      </p:ext>
    </p:extLst>
  </p:cm>
  <p:cm authorId="1" dt="2016-04-05T08:55:08.523" idx="9">
    <p:pos x="10" y="146"/>
    <p:text>Existen incontables, formas posibles de programar estos modelos, pero la programación es complicada y tendríamos que optimizar los árboles, por ello confiamos en los desarrolladores de MPI que han desarrollado todas estas funciones "optimizadas" por ellos.</p:text>
    <p:extLst>
      <p:ext uri="{C676402C-5697-4E1C-873F-D02D1690AC5C}">
        <p15:threadingInfo xmlns:p15="http://schemas.microsoft.com/office/powerpoint/2012/main" timeZoneBias="-120">
          <p15:parentCm authorId="1" idx="6"/>
        </p15:threadingInfo>
      </p:ext>
    </p:extLst>
  </p:cm>
</p:cmLst>
</file>

<file path=ppt/comments/comment7.xml><?xml version="1.0" encoding="utf-8"?>
<p:cmLst xmlns:a="http://schemas.openxmlformats.org/drawingml/2006/main" xmlns:r="http://schemas.openxmlformats.org/officeDocument/2006/relationships" xmlns:p="http://schemas.openxmlformats.org/presentationml/2006/main">
  <p:cm authorId="1" dt="2016-04-05T08:50:06.382" idx="7">
    <p:pos x="10" y="10"/>
    <p:text>Explicar que estas son las pricipales diferencias entre las funciones de comunicación colectiva, y las de punto a punto.</p:text>
    <p:extLst>
      <p:ext uri="{C676402C-5697-4E1C-873F-D02D1690AC5C}">
        <p15:threadingInfo xmlns:p15="http://schemas.microsoft.com/office/powerpoint/2012/main" timeZoneBias="-120"/>
      </p:ext>
    </p:extLst>
  </p:cm>
  <p:cm authorId="1" dt="2016-04-05T08:51:06.450" idx="8">
    <p:pos x="10" y="146"/>
    <p:text>1- en punto a punto se utilizan dos funciones distintas, send y recv</p:text>
    <p:extLst>
      <p:ext uri="{C676402C-5697-4E1C-873F-D02D1690AC5C}">
        <p15:threadingInfo xmlns:p15="http://schemas.microsoft.com/office/powerpoint/2012/main" timeZoneBias="-120">
          <p15:parentCm authorId="1" idx="7"/>
        </p15:threadingInfo>
      </p:ext>
    </p:extLst>
  </p:cm>
</p:cmLst>
</file>

<file path=ppt/comments/comment8.xml><?xml version="1.0" encoding="utf-8"?>
<p:cmLst xmlns:a="http://schemas.openxmlformats.org/drawingml/2006/main" xmlns:r="http://schemas.openxmlformats.org/officeDocument/2006/relationships" xmlns:p="http://schemas.openxmlformats.org/presentationml/2006/main">
  <p:cm authorId="1" dt="2016-04-05T08:59:23.569" idx="10">
    <p:pos x="10" y="10"/>
    <p:text>Explicar los parámetros de Reduce, comentar parámtero OP para elegir operador</p:text>
    <p:extLst>
      <p:ext uri="{C676402C-5697-4E1C-873F-D02D1690AC5C}">
        <p15:threadingInfo xmlns:p15="http://schemas.microsoft.com/office/powerpoint/2012/main" timeZoneBias="-120"/>
      </p:ext>
    </p:extLst>
  </p:cm>
</p:cmLst>
</file>

<file path=ppt/comments/comment9.xml><?xml version="1.0" encoding="utf-8"?>
<p:cmLst xmlns:a="http://schemas.openxmlformats.org/drawingml/2006/main" xmlns:r="http://schemas.openxmlformats.org/officeDocument/2006/relationships" xmlns:p="http://schemas.openxmlformats.org/presentationml/2006/main">
  <p:cm authorId="1" dt="2016-04-05T09:05:44.184" idx="11">
    <p:pos x="10" y="10"/>
    <p:text>Explicar los parámetros de scatter, ahora hay un parámetro displs que corresponde a las vector variant de las funciones, sirve para identificar el offset en el buffer de los datos que va a recibir cada proceso.</p:text>
    <p:extLst>
      <p:ext uri="{C676402C-5697-4E1C-873F-D02D1690AC5C}">
        <p15:threadingInfo xmlns:p15="http://schemas.microsoft.com/office/powerpoint/2012/main" timeZoneBias="-120"/>
      </p:ext>
    </p:extLst>
  </p:cm>
  <p:cm authorId="1" dt="2016-04-05T09:08:14.971" idx="12">
    <p:pos x="10" y="146"/>
    <p:text>Comentar que sencounts es un arrray mientras que, recvcnt es un entero, ya que la raíz divide sus datos entre  el resto de procesos.</p:text>
    <p:extLst>
      <p:ext uri="{C676402C-5697-4E1C-873F-D02D1690AC5C}">
        <p15:threadingInfo xmlns:p15="http://schemas.microsoft.com/office/powerpoint/2012/main" timeZoneBias="-120">
          <p15:parentCm authorId="1" idx="11"/>
        </p15:threadingInfo>
      </p:ext>
    </p:extLst>
  </p:cm>
  <p:cm authorId="1" dt="2016-04-05T09:08:37.780" idx="13">
    <p:pos x="10" y="282"/>
    <p:text>Estos argumentos son iguales pero están colocados al reves en la función gather</p:text>
    <p:extLst>
      <p:ext uri="{C676402C-5697-4E1C-873F-D02D1690AC5C}">
        <p15:threadingInfo xmlns:p15="http://schemas.microsoft.com/office/powerpoint/2012/main" timeZoneBias="-120">
          <p15:parentCm authorId="1" idx="11"/>
        </p15:threadingInfo>
      </p:ext>
    </p:extLst>
  </p:cm>
  <p:cm authorId="1" dt="2016-04-05T09:09:07.466" idx="14">
    <p:pos x="10" y="418"/>
    <p:text>Comentar que las funciónes all no necesitan el parámetro root</p:text>
    <p:extLst>
      <p:ext uri="{C676402C-5697-4E1C-873F-D02D1690AC5C}">
        <p15:threadingInfo xmlns:p15="http://schemas.microsoft.com/office/powerpoint/2012/main" timeZoneBias="-120">
          <p15:parentCm authorId="1" idx="11"/>
        </p15:threadingInfo>
      </p:ext>
    </p:extLst>
  </p:cm>
</p:cmLst>
</file>

<file path=ppt/comments/comment10.xml><?xml version="1.0" encoding="utf-8"?>
<p:cmLst xmlns:a="http://schemas.openxmlformats.org/drawingml/2006/main" xmlns:r="http://schemas.openxmlformats.org/officeDocument/2006/relationships" xmlns:p="http://schemas.openxmlformats.org/presentationml/2006/main">
  <p:cm authorId="2" dt="2016-04-05T09:45:38.347" idx="1">
    <p:pos x="4081" y="2458"/>
    <p:text>Los tipos de datos elementales son los mismos que en C o Fortran, pero con MPI al inicio. (Ej. MPI_INT, MPI_REAL).</p:text>
    <p:extLst>
      <p:ext uri="{C676402C-5697-4E1C-873F-D02D1690AC5C}">
        <p15:threadingInfo xmlns:p15="http://schemas.microsoft.com/office/powerpoint/2012/main" timeZoneBias="-120"/>
      </p:ext>
    </p:extLst>
  </p:cm>
  <p:cm authorId="2" dt="2016-04-05T09:46:29.411" idx="2">
    <p:pos x="10" y="10"/>
    <p:text>No se pueden enviar tipos de datos elementales homogéneos, aunque estén en posiciones de memoria contigua. Se podría con Byte, pero no es recomendable.</p:text>
    <p:extLst>
      <p:ext uri="{C676402C-5697-4E1C-873F-D02D1690AC5C}">
        <p15:threadingInfo xmlns:p15="http://schemas.microsoft.com/office/powerpoint/2012/main" timeZoneBias="-120"/>
      </p:ext>
    </p:extLst>
  </p:cm>
  <p:cm authorId="2" dt="2016-04-05T09:47:07.630" idx="3">
    <p:pos x="146" y="146"/>
    <p:text>Los tipos de datos derivados permiten enviar información heterogénea aunque estén en posiciones no contíguas de memoria. Ofrece otro paradigma diferente.</p:text>
    <p:extLst>
      <p:ext uri="{C676402C-5697-4E1C-873F-D02D1690AC5C}">
        <p15:threadingInfo xmlns:p15="http://schemas.microsoft.com/office/powerpoint/2012/main" timeZoneBias="-120"/>
      </p:ext>
    </p:extLst>
  </p:cm>
</p:cmLst>
</file>

<file path=ppt/comments/comment11.xml><?xml version="1.0" encoding="utf-8"?>
<p:cmLst xmlns:a="http://schemas.openxmlformats.org/drawingml/2006/main" xmlns:r="http://schemas.openxmlformats.org/officeDocument/2006/relationships" xmlns:p="http://schemas.openxmlformats.org/presentationml/2006/main">
  <p:cm authorId="2" dt="2016-04-05T09:52:17.848" idx="4">
    <p:pos x="5379" y="2455"/>
    <p:text>La firma del tipo de dato es la representación interna del tipo de dato. Por ejemplo, si el emisor declara un tipo consistente en 2 enteros y envía 4 elementos de ese tipo, el receptor puede recibir dos elementos de un tipo que consista en 4 enteros. En ambos casos se envían 8 enteros y se reciben 8 enteros.</p:text>
    <p:extLst>
      <p:ext uri="{C676402C-5697-4E1C-873F-D02D1690AC5C}">
        <p15:threadingInfo xmlns:p15="http://schemas.microsoft.com/office/powerpoint/2012/main" timeZoneBias="-120"/>
      </p:ext>
    </p:extLst>
  </p:cm>
</p:cmLst>
</file>

<file path=ppt/comments/comment12.xml><?xml version="1.0" encoding="utf-8"?>
<p:cmLst xmlns:a="http://schemas.openxmlformats.org/drawingml/2006/main" xmlns:r="http://schemas.openxmlformats.org/officeDocument/2006/relationships" xmlns:p="http://schemas.openxmlformats.org/presentationml/2006/main">
  <p:cm authorId="2" dt="2016-04-05T10:05:36.655" idx="5">
    <p:pos x="2198" y="1604"/>
    <p:text>Es el tipo más derivado más simple. Define un array de elementos de un tipo elemental o de otro tipo definido con anterioridad. No hay diferencia entre enviar un elemento de tipo contiguo o múltiples elementos del tipo que lo componen.</p:text>
    <p:extLst>
      <p:ext uri="{C676402C-5697-4E1C-873F-D02D1690AC5C}">
        <p15:threadingInfo xmlns:p15="http://schemas.microsoft.com/office/powerpoint/2012/main" timeZoneBias="-120"/>
      </p:ext>
    </p:extLst>
  </p:cm>
  <p:cm authorId="2" dt="2016-04-05T10:07:51.251" idx="6">
    <p:pos x="1950" y="2499"/>
    <p:text>Es el tipo de dato no contiguo más simple. Describe una serie de bloques, todos de la misma longitud, y espaciados con un mismo stride, constante.</p:text>
    <p:extLst>
      <p:ext uri="{C676402C-5697-4E1C-873F-D02D1690AC5C}">
        <p15:threadingInfo xmlns:p15="http://schemas.microsoft.com/office/powerpoint/2012/main" timeZoneBias="-120"/>
      </p:ext>
    </p:extLst>
  </p:cm>
</p:cmLst>
</file>

<file path=ppt/comments/comment13.xml><?xml version="1.0" encoding="utf-8"?>
<p:cmLst xmlns:a="http://schemas.openxmlformats.org/drawingml/2006/main" xmlns:r="http://schemas.openxmlformats.org/officeDocument/2006/relationships" xmlns:p="http://schemas.openxmlformats.org/presentationml/2006/main">
  <p:cm authorId="2" dt="2016-04-05T10:14:54.029" idx="7">
    <p:pos x="3545" y="1604"/>
    <p:text>El tipo indexado puede enviar elementos ubicados arbitrariamente de un array de un tipo único. Para ello hay que proporcionar un array de posiciones, acompañado de un array de longitudes con un  array separado con el tamaño de cada bloque.</p:text>
    <p:extLst>
      <p:ext uri="{C676402C-5697-4E1C-873F-D02D1690AC5C}">
        <p15:threadingInfo xmlns:p15="http://schemas.microsoft.com/office/powerpoint/2012/main" timeZoneBias="-120"/>
      </p:ext>
    </p:extLst>
  </p:cm>
  <p:cm authorId="2" dt="2016-04-05T10:19:08.523" idx="8">
    <p:pos x="2942" y="2207"/>
    <p:text>El tipo struct puede contener múltiples tipos de datos. La especificación contiene un contador que indica cuantos bloques hay en una única estructura.</p:text>
    <p:extLst>
      <p:ext uri="{C676402C-5697-4E1C-873F-D02D1690AC5C}">
        <p15:threadingInfo xmlns:p15="http://schemas.microsoft.com/office/powerpoint/2012/main" timeZoneBias="-120"/>
      </p:ext>
    </p:extLst>
  </p:cm>
</p:cmLst>
</file>

<file path=ppt/comments/comment14.xml><?xml version="1.0" encoding="utf-8"?>
<p:cmLst xmlns:a="http://schemas.openxmlformats.org/drawingml/2006/main" xmlns:r="http://schemas.openxmlformats.org/officeDocument/2006/relationships" xmlns:p="http://schemas.openxmlformats.org/presentationml/2006/main">
  <p:cm authorId="2" dt="2016-04-05T10:27:17.315" idx="9">
    <p:pos x="2198" y="1604"/>
    <p:text>las rutinas de empaquetado añaden datos de forma secuencial en un buffer, y el empaquetado hay que hacerlo en orden.</p:text>
    <p:extLst>
      <p:ext uri="{C676402C-5697-4E1C-873F-D02D1690AC5C}">
        <p15:threadingInfo xmlns:p15="http://schemas.microsoft.com/office/powerpoint/2012/main" timeZoneBias="-120"/>
      </p:ext>
    </p:extLst>
  </p:cm>
</p:cmLst>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s-ES" smtClean="0"/>
              <a:t>Haga clic para modificar el estilo de título del patrón</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smtClean="0"/>
              <a:t>Haga clic para modificar el estilo de subtítulo del patrón</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4/5/2016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D57F1E4F-1CFF-5643-939E-217C01CDF565}" type="slidenum">
              <a:rPr lang="en-US" dirty="0"/>
              <a:pPr/>
              <a:t>‹Nº›</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s-ES" smtClean="0"/>
              <a:t>Haga clic para modificar el estilo de título del patrón</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4/5/2016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Date Placeholder 3"/>
          <p:cNvSpPr>
            <a:spLocks noGrp="1"/>
          </p:cNvSpPr>
          <p:nvPr>
            <p:ph type="dt" sz="half" idx="10"/>
          </p:nvPr>
        </p:nvSpPr>
        <p:spPr/>
        <p:txBody>
          <a:bodyPr/>
          <a:lstStyle/>
          <a:p>
            <a:fld id="{B61BEF0D-F0BB-DE4B-95CE-6DB70DBA9567}" type="datetimeFigureOut">
              <a:rPr lang="en-US" dirty="0"/>
              <a:pPr/>
              <a:t>4/5/2016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‹Nº›</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s-ES" smtClean="0"/>
              <a:t>Haga clic para modificar el estilo de título del patrón</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4/5/2016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‹Nº›</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4/5/2016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‹Nº›</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4/5/2016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4/5/2016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s-ES" smtClean="0"/>
              <a:t>Haga clic para modificar el estilo de título del patrón</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Date Placeholder 4"/>
          <p:cNvSpPr>
            <a:spLocks noGrp="1"/>
          </p:cNvSpPr>
          <p:nvPr>
            <p:ph type="dt" sz="half" idx="10"/>
          </p:nvPr>
        </p:nvSpPr>
        <p:spPr/>
        <p:txBody>
          <a:bodyPr/>
          <a:lstStyle/>
          <a:p>
            <a:fld id="{B61BEF0D-F0BB-DE4B-95CE-6DB70DBA9567}" type="datetimeFigureOut">
              <a:rPr lang="en-US" dirty="0"/>
              <a:pPr/>
              <a:t>4/5/2016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s-ES" smtClean="0"/>
              <a:t>Haga clic para modificar el estilo de título del patrón</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dirty="0" smtClean="0"/>
              <a:t>Haga clic en el icono para agregar una imagen</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Date Placeholder 4"/>
          <p:cNvSpPr>
            <a:spLocks noGrp="1"/>
          </p:cNvSpPr>
          <p:nvPr>
            <p:ph type="dt" sz="half" idx="10"/>
          </p:nvPr>
        </p:nvSpPr>
        <p:spPr/>
        <p:txBody>
          <a:bodyPr/>
          <a:lstStyle/>
          <a:p>
            <a:fld id="{B61BEF0D-F0BB-DE4B-95CE-6DB70DBA9567}" type="datetimeFigureOut">
              <a:rPr lang="en-US" dirty="0"/>
              <a:pPr/>
              <a:t>4/5/2016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‹Nº›</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Date Placeholder 3"/>
          <p:cNvSpPr>
            <a:spLocks noGrp="1"/>
          </p:cNvSpPr>
          <p:nvPr>
            <p:ph type="dt" sz="half" idx="10"/>
          </p:nvPr>
        </p:nvSpPr>
        <p:spPr/>
        <p:txBody>
          <a:bodyPr/>
          <a:lstStyle/>
          <a:p>
            <a:fld id="{B61BEF0D-F0BB-DE4B-95CE-6DB70DBA9567}" type="datetimeFigureOut">
              <a:rPr lang="en-US" dirty="0"/>
              <a:pPr/>
              <a:t>4/5/2016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‹Nº›</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s-ES" smtClean="0"/>
              <a:t>Haga clic para modificar el estilo de título del patrón</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smtClean="0"/>
              <a:t>Haga clic para modificar el estilo de texto del patrón</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Date Placeholder 3"/>
          <p:cNvSpPr>
            <a:spLocks noGrp="1"/>
          </p:cNvSpPr>
          <p:nvPr>
            <p:ph type="dt" sz="half" idx="10"/>
          </p:nvPr>
        </p:nvSpPr>
        <p:spPr/>
        <p:txBody>
          <a:bodyPr/>
          <a:lstStyle/>
          <a:p>
            <a:fld id="{B61BEF0D-F0BB-DE4B-95CE-6DB70DBA9567}" type="datetimeFigureOut">
              <a:rPr lang="en-US" dirty="0"/>
              <a:pPr/>
              <a:t>4/5/2016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‹Nº›</a:t>
            </a:fld>
            <a:endParaRPr lang="en-US"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s-ES" smtClean="0"/>
              <a:t>Haga clic para modificar el estilo de título del patrón</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s-ES" smtClean="0"/>
              <a:t>Haga clic para modificar el estilo de texto del patrón</a:t>
            </a:r>
          </a:p>
        </p:txBody>
      </p:sp>
      <p:sp>
        <p:nvSpPr>
          <p:cNvPr id="5" name="Date Placeholder 4"/>
          <p:cNvSpPr>
            <a:spLocks noGrp="1"/>
          </p:cNvSpPr>
          <p:nvPr>
            <p:ph type="dt" sz="half" idx="10"/>
          </p:nvPr>
        </p:nvSpPr>
        <p:spPr/>
        <p:txBody>
          <a:bodyPr/>
          <a:lstStyle/>
          <a:p>
            <a:fld id="{B61BEF0D-F0BB-DE4B-95CE-6DB70DBA9567}" type="datetimeFigureOut">
              <a:rPr lang="en-US" dirty="0"/>
              <a:pPr/>
              <a:t>4/5/2016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‹Nº›</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itar la tarjeta de nombre">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s-ES" smtClean="0"/>
              <a:t>Haga clic para modificar el estilo de título del patrón</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smtClean="0"/>
              <a:t>Haga clic para modificar el estilo de texto del patrón</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s-ES" smtClean="0"/>
              <a:t>Haga clic para modificar el estilo de texto del patrón</a:t>
            </a:r>
          </a:p>
        </p:txBody>
      </p:sp>
      <p:sp>
        <p:nvSpPr>
          <p:cNvPr id="5" name="Date Placeholder 4"/>
          <p:cNvSpPr>
            <a:spLocks noGrp="1"/>
          </p:cNvSpPr>
          <p:nvPr>
            <p:ph type="dt" sz="half" idx="10"/>
          </p:nvPr>
        </p:nvSpPr>
        <p:spPr/>
        <p:txBody>
          <a:bodyPr/>
          <a:lstStyle/>
          <a:p>
            <a:fld id="{B61BEF0D-F0BB-DE4B-95CE-6DB70DBA9567}" type="datetimeFigureOut">
              <a:rPr lang="en-US" dirty="0"/>
              <a:pPr/>
              <a:t>4/5/2016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‹Nº›</a:t>
            </a:fld>
            <a:endParaRPr lang="en-US"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erdadero o falso">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s-ES" smtClean="0"/>
              <a:t>Haga clic para modificar el estilo de título del patrón</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smtClean="0"/>
              <a:t>Haga clic para modificar el estilo de texto del patrón</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s-ES" smtClean="0"/>
              <a:t>Haga clic para modificar el estilo de texto del patrón</a:t>
            </a:r>
          </a:p>
        </p:txBody>
      </p:sp>
      <p:sp>
        <p:nvSpPr>
          <p:cNvPr id="5" name="Date Placeholder 4"/>
          <p:cNvSpPr>
            <a:spLocks noGrp="1"/>
          </p:cNvSpPr>
          <p:nvPr>
            <p:ph type="dt" sz="half" idx="10"/>
          </p:nvPr>
        </p:nvSpPr>
        <p:spPr/>
        <p:txBody>
          <a:bodyPr/>
          <a:lstStyle/>
          <a:p>
            <a:fld id="{B61BEF0D-F0BB-DE4B-95CE-6DB70DBA9567}" type="datetimeFigureOut">
              <a:rPr lang="en-US" dirty="0"/>
              <a:pPr/>
              <a:t>4/5/2016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‹Nº›</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ncho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4/5/2016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s-ES" smtClean="0"/>
              <a:t>Haga clic para modificar el estilo de título del patrón</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4/5/2016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157"/>
            <a:ext cx="2356674" cy="6853096"/>
            <a:chOff x="6627813" y="195610"/>
            <a:chExt cx="1952625" cy="5678141"/>
          </a:xfrm>
        </p:grpSpPr>
        <p:sp>
          <p:nvSpPr>
            <p:cNvPr id="11" name="Freeform 27"/>
            <p:cNvSpPr/>
            <p:nvPr/>
          </p:nvSpPr>
          <p:spPr bwMode="auto">
            <a:xfrm>
              <a:off x="6627813" y="195610"/>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4/5/2016</a:t>
            </a:fld>
            <a:endParaRPr lang="en-US"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57F1E4F-1CFF-5643-939E-217C01CDF565}" type="slidenum">
              <a:rPr lang="en-US" dirty="0"/>
              <a:pPr/>
              <a:t>‹Nº›</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2" r:id="rId12"/>
    <p:sldLayoutId id="2147483663" r:id="rId13"/>
    <p:sldLayoutId id="2147483664" r:id="rId14"/>
    <p:sldLayoutId id="2147483658" r:id="rId15"/>
    <p:sldLayoutId id="2147483659" r:id="rId16"/>
  </p:sldLayoutIdLst>
  <p:txStyles>
    <p:titleStyle>
      <a:lvl1pPr algn="l" defTabSz="457200" rtl="0" eaLnBrk="1" latinLnBrk="0" hangingPunct="1">
        <a:spcBef>
          <a:spcPct val="0"/>
        </a:spcBef>
        <a:buNone/>
        <a:defRPr sz="3600" kern="1200">
          <a:solidFill>
            <a:schemeClr val="accent2">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comments" Target="../comments/comment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comments" Target="../comments/comment2.xml"/><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comments" Target="../comments/comment3.xml"/><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comments" Target="../comments/comment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comments" Target="../comments/comment5.xml"/><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comments" Target="../comments/comment6.xml"/><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comments" Target="../comments/comment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comments" Target="../comments/comment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comments" Target="../comments/comment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comments" Target="../comments/comment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comments" Target="../comments/comment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comments" Target="../comments/comment12.xml"/><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comments" Target="../comments/comment13.xml"/><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comments" Target="../comments/comment14.xml"/><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p:txBody>
          <a:bodyPr/>
          <a:lstStyle/>
          <a:p>
            <a:r>
              <a:rPr lang="es-ES" dirty="0" smtClean="0"/>
              <a:t>PUZZLE 1</a:t>
            </a:r>
            <a:endParaRPr lang="es-ES" dirty="0"/>
          </a:p>
        </p:txBody>
      </p:sp>
      <p:sp>
        <p:nvSpPr>
          <p:cNvPr id="3" name="Subtítulo 2"/>
          <p:cNvSpPr>
            <a:spLocks noGrp="1"/>
          </p:cNvSpPr>
          <p:nvPr>
            <p:ph type="subTitle" idx="1"/>
          </p:nvPr>
        </p:nvSpPr>
        <p:spPr/>
        <p:txBody>
          <a:bodyPr/>
          <a:lstStyle/>
          <a:p>
            <a:endParaRPr lang="es-ES" dirty="0"/>
          </a:p>
        </p:txBody>
      </p:sp>
    </p:spTree>
    <p:extLst>
      <p:ext uri="{BB962C8B-B14F-4D97-AF65-F5344CB8AC3E}">
        <p14:creationId xmlns:p14="http://schemas.microsoft.com/office/powerpoint/2010/main" val="27481839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smtClean="0"/>
              <a:t>Comunicaciones Colectivas</a:t>
            </a:r>
            <a:endParaRPr lang="es-ES" dirty="0"/>
          </a:p>
        </p:txBody>
      </p:sp>
      <p:sp>
        <p:nvSpPr>
          <p:cNvPr id="3" name="Marcador de contenido 2"/>
          <p:cNvSpPr>
            <a:spLocks noGrp="1"/>
          </p:cNvSpPr>
          <p:nvPr>
            <p:ph idx="1"/>
          </p:nvPr>
        </p:nvSpPr>
        <p:spPr>
          <a:xfrm>
            <a:off x="5843016" y="2727928"/>
            <a:ext cx="5843016" cy="2328704"/>
          </a:xfrm>
        </p:spPr>
        <p:txBody>
          <a:bodyPr/>
          <a:lstStyle/>
          <a:p>
            <a:r>
              <a:rPr lang="es-ES" sz="2000" dirty="0" smtClean="0"/>
              <a:t>Que son las comunicaciones colectivas? </a:t>
            </a:r>
          </a:p>
          <a:p>
            <a:r>
              <a:rPr lang="es-ES" sz="2000" dirty="0" smtClean="0"/>
              <a:t>Que beneficios nos aportan?</a:t>
            </a:r>
          </a:p>
          <a:p>
            <a:r>
              <a:rPr lang="es-ES" dirty="0" smtClean="0"/>
              <a:t>Que tipos de comunicaciones colectivas existen?</a:t>
            </a:r>
          </a:p>
          <a:p>
            <a:pPr marL="0" indent="0">
              <a:buNone/>
            </a:pPr>
            <a:endParaRPr lang="es-ES" dirty="0"/>
          </a:p>
          <a:p>
            <a:pPr marL="0" indent="0">
              <a:buNone/>
            </a:pPr>
            <a:endParaRPr lang="es-ES" dirty="0"/>
          </a:p>
        </p:txBody>
      </p:sp>
      <p:pic>
        <p:nvPicPr>
          <p:cNvPr id="5" name="Imagen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97196" y="2727928"/>
            <a:ext cx="3311252" cy="2116836"/>
          </a:xfrm>
          <a:prstGeom prst="rect">
            <a:avLst/>
          </a:prstGeom>
        </p:spPr>
      </p:pic>
    </p:spTree>
    <p:extLst>
      <p:ext uri="{BB962C8B-B14F-4D97-AF65-F5344CB8AC3E}">
        <p14:creationId xmlns:p14="http://schemas.microsoft.com/office/powerpoint/2010/main" val="22974776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smtClean="0"/>
              <a:t>Comunicaciones Colectivas</a:t>
            </a:r>
            <a:endParaRPr lang="es-ES" dirty="0"/>
          </a:p>
        </p:txBody>
      </p:sp>
      <p:pic>
        <p:nvPicPr>
          <p:cNvPr id="4" name="Marcador de contenido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592925" y="1905000"/>
            <a:ext cx="7251754" cy="3974592"/>
          </a:xfrm>
        </p:spPr>
      </p:pic>
    </p:spTree>
    <p:extLst>
      <p:ext uri="{BB962C8B-B14F-4D97-AF65-F5344CB8AC3E}">
        <p14:creationId xmlns:p14="http://schemas.microsoft.com/office/powerpoint/2010/main" val="1202807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Comunicaciones Colectivas</a:t>
            </a:r>
          </a:p>
        </p:txBody>
      </p:sp>
      <p:sp>
        <p:nvSpPr>
          <p:cNvPr id="3" name="Marcador de contenido 2"/>
          <p:cNvSpPr>
            <a:spLocks noGrp="1"/>
          </p:cNvSpPr>
          <p:nvPr>
            <p:ph idx="1"/>
          </p:nvPr>
        </p:nvSpPr>
        <p:spPr>
          <a:xfrm>
            <a:off x="2066544" y="1905000"/>
            <a:ext cx="8817864" cy="3777622"/>
          </a:xfrm>
        </p:spPr>
        <p:txBody>
          <a:bodyPr/>
          <a:lstStyle/>
          <a:p>
            <a:pPr marL="0" indent="0">
              <a:buNone/>
            </a:pPr>
            <a:r>
              <a:rPr lang="es-ES" dirty="0" smtClean="0"/>
              <a:t>Podemos clasificar el tipo de comunicación en función del número de emisores y receptores:</a:t>
            </a:r>
          </a:p>
          <a:p>
            <a:endParaRPr lang="es-ES" dirty="0"/>
          </a:p>
          <a:p>
            <a:pPr>
              <a:buFont typeface="Arial" panose="020B0604020202020204" pitchFamily="34" charset="0"/>
              <a:buChar char="•"/>
            </a:pPr>
            <a:r>
              <a:rPr lang="es-ES" dirty="0" smtClean="0"/>
              <a:t>All – to – One :    </a:t>
            </a:r>
            <a:r>
              <a:rPr lang="es-ES" b="1" dirty="0" err="1" smtClean="0"/>
              <a:t>MPI_Reduce</a:t>
            </a:r>
            <a:r>
              <a:rPr lang="es-ES" dirty="0" smtClean="0"/>
              <a:t>   </a:t>
            </a:r>
            <a:r>
              <a:rPr lang="es-ES" b="1" dirty="0" smtClean="0"/>
              <a:t>      </a:t>
            </a:r>
            <a:r>
              <a:rPr lang="es-ES" b="1" dirty="0" err="1" smtClean="0"/>
              <a:t>MPI_Gather</a:t>
            </a:r>
            <a:endParaRPr lang="es-ES" b="1" dirty="0" smtClean="0"/>
          </a:p>
          <a:p>
            <a:pPr>
              <a:buFont typeface="Arial" panose="020B0604020202020204" pitchFamily="34" charset="0"/>
              <a:buChar char="•"/>
            </a:pPr>
            <a:endParaRPr lang="es-ES" b="1" dirty="0" smtClean="0"/>
          </a:p>
          <a:p>
            <a:pPr>
              <a:buFont typeface="Arial" panose="020B0604020202020204" pitchFamily="34" charset="0"/>
              <a:buChar char="•"/>
            </a:pPr>
            <a:r>
              <a:rPr lang="es-ES" dirty="0" smtClean="0"/>
              <a:t>One – </a:t>
            </a:r>
            <a:r>
              <a:rPr lang="es-ES" dirty="0"/>
              <a:t>to – </a:t>
            </a:r>
            <a:r>
              <a:rPr lang="es-ES" dirty="0" err="1" smtClean="0"/>
              <a:t>All</a:t>
            </a:r>
            <a:r>
              <a:rPr lang="es-ES" dirty="0" smtClean="0"/>
              <a:t> :    </a:t>
            </a:r>
            <a:r>
              <a:rPr lang="es-ES" b="1" dirty="0" err="1" smtClean="0"/>
              <a:t>MPI_Bcast</a:t>
            </a:r>
            <a:r>
              <a:rPr lang="es-ES" b="1" dirty="0" smtClean="0"/>
              <a:t>              </a:t>
            </a:r>
            <a:r>
              <a:rPr lang="es-ES" b="1" dirty="0" err="1" smtClean="0"/>
              <a:t>MPI_Scatter</a:t>
            </a:r>
            <a:endParaRPr lang="es-ES" b="1" dirty="0" smtClean="0"/>
          </a:p>
          <a:p>
            <a:pPr>
              <a:buFont typeface="Arial" panose="020B0604020202020204" pitchFamily="34" charset="0"/>
              <a:buChar char="•"/>
            </a:pPr>
            <a:endParaRPr lang="es-ES" dirty="0" smtClean="0"/>
          </a:p>
          <a:p>
            <a:pPr>
              <a:buFont typeface="Arial" panose="020B0604020202020204" pitchFamily="34" charset="0"/>
              <a:buChar char="•"/>
            </a:pPr>
            <a:r>
              <a:rPr lang="es-ES" dirty="0" smtClean="0"/>
              <a:t>All</a:t>
            </a:r>
            <a:r>
              <a:rPr lang="es-ES" dirty="0"/>
              <a:t> </a:t>
            </a:r>
            <a:r>
              <a:rPr lang="es-ES" dirty="0" smtClean="0"/>
              <a:t>– to – </a:t>
            </a:r>
            <a:r>
              <a:rPr lang="es-ES" dirty="0" err="1" smtClean="0"/>
              <a:t>All</a:t>
            </a:r>
            <a:r>
              <a:rPr lang="es-ES" dirty="0" smtClean="0"/>
              <a:t> </a:t>
            </a:r>
            <a:r>
              <a:rPr lang="es-ES" b="1" dirty="0" smtClean="0"/>
              <a:t>:       </a:t>
            </a:r>
            <a:r>
              <a:rPr lang="es-ES" b="1" dirty="0" err="1" smtClean="0"/>
              <a:t>MPI_ALLReduce</a:t>
            </a:r>
            <a:r>
              <a:rPr lang="es-ES" b="1" dirty="0" smtClean="0"/>
              <a:t>     </a:t>
            </a:r>
            <a:r>
              <a:rPr lang="es-ES" b="1" dirty="0" err="1" smtClean="0"/>
              <a:t>MPI_ALLGather</a:t>
            </a:r>
            <a:endParaRPr lang="es-ES" b="1" dirty="0" smtClean="0"/>
          </a:p>
          <a:p>
            <a:pPr>
              <a:buFont typeface="Arial" panose="020B0604020202020204" pitchFamily="34" charset="0"/>
              <a:buChar char="•"/>
            </a:pPr>
            <a:endParaRPr lang="es-ES" b="1" dirty="0"/>
          </a:p>
          <a:p>
            <a:pPr>
              <a:buFont typeface="Arial" panose="020B0604020202020204" pitchFamily="34" charset="0"/>
              <a:buChar char="•"/>
            </a:pPr>
            <a:endParaRPr lang="es-ES" dirty="0" smtClean="0"/>
          </a:p>
          <a:p>
            <a:pPr>
              <a:buFont typeface="Arial" panose="020B0604020202020204" pitchFamily="34" charset="0"/>
              <a:buChar char="•"/>
            </a:pPr>
            <a:endParaRPr lang="es-ES" dirty="0"/>
          </a:p>
        </p:txBody>
      </p:sp>
    </p:spTree>
    <p:extLst>
      <p:ext uri="{BB962C8B-B14F-4D97-AF65-F5344CB8AC3E}">
        <p14:creationId xmlns:p14="http://schemas.microsoft.com/office/powerpoint/2010/main" val="10042950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Comunicaciones Colectivas</a:t>
            </a:r>
          </a:p>
        </p:txBody>
      </p:sp>
      <p:pic>
        <p:nvPicPr>
          <p:cNvPr id="4" name="Marcador de contenido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592925" y="1905000"/>
            <a:ext cx="7209443" cy="4129889"/>
          </a:xfrm>
        </p:spPr>
      </p:pic>
    </p:spTree>
    <p:extLst>
      <p:ext uri="{BB962C8B-B14F-4D97-AF65-F5344CB8AC3E}">
        <p14:creationId xmlns:p14="http://schemas.microsoft.com/office/powerpoint/2010/main" val="40918861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Comunicaciones Colectivas</a:t>
            </a:r>
          </a:p>
        </p:txBody>
      </p:sp>
      <p:pic>
        <p:nvPicPr>
          <p:cNvPr id="4" name="Marcador de contenido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592925" y="1905000"/>
            <a:ext cx="6807107" cy="3738568"/>
          </a:xfrm>
        </p:spPr>
      </p:pic>
    </p:spTree>
    <p:extLst>
      <p:ext uri="{BB962C8B-B14F-4D97-AF65-F5344CB8AC3E}">
        <p14:creationId xmlns:p14="http://schemas.microsoft.com/office/powerpoint/2010/main" val="42421250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Comunicaciones Colectivas</a:t>
            </a:r>
          </a:p>
        </p:txBody>
      </p:sp>
      <p:sp>
        <p:nvSpPr>
          <p:cNvPr id="3" name="Marcador de contenido 2"/>
          <p:cNvSpPr>
            <a:spLocks noGrp="1"/>
          </p:cNvSpPr>
          <p:nvPr>
            <p:ph idx="1"/>
          </p:nvPr>
        </p:nvSpPr>
        <p:spPr/>
        <p:txBody>
          <a:bodyPr/>
          <a:lstStyle/>
          <a:p>
            <a:pPr>
              <a:buFont typeface="+mj-lt"/>
              <a:buAutoNum type="arabicPeriod"/>
            </a:pPr>
            <a:r>
              <a:rPr lang="es-ES" dirty="0"/>
              <a:t>Todos los procesos en el comunicador deben llamar a la misma función </a:t>
            </a:r>
            <a:r>
              <a:rPr lang="es-ES" dirty="0" smtClean="0"/>
              <a:t>colectiva. </a:t>
            </a:r>
          </a:p>
          <a:p>
            <a:pPr>
              <a:buFont typeface="+mj-lt"/>
              <a:buAutoNum type="arabicPeriod"/>
            </a:pPr>
            <a:r>
              <a:rPr lang="es-ES" dirty="0" smtClean="0"/>
              <a:t>No se utilizan “</a:t>
            </a:r>
            <a:r>
              <a:rPr lang="es-ES" dirty="0" err="1" smtClean="0"/>
              <a:t>tags</a:t>
            </a:r>
            <a:r>
              <a:rPr lang="es-ES" dirty="0" smtClean="0"/>
              <a:t>”, se conectan solo mediante el comunicador y el </a:t>
            </a:r>
            <a:r>
              <a:rPr lang="es-ES" dirty="0" err="1" smtClean="0"/>
              <a:t>órden</a:t>
            </a:r>
            <a:r>
              <a:rPr lang="es-ES" dirty="0" smtClean="0"/>
              <a:t> en que son llamadas</a:t>
            </a:r>
          </a:p>
          <a:p>
            <a:pPr>
              <a:buFont typeface="+mj-lt"/>
              <a:buAutoNum type="arabicPeriod"/>
            </a:pPr>
            <a:r>
              <a:rPr lang="es-ES" dirty="0" smtClean="0"/>
              <a:t>Los datos en el buffer tienen que coincidir exactamente con el tamaño esperado en el destino.</a:t>
            </a:r>
          </a:p>
          <a:p>
            <a:pPr>
              <a:buFont typeface="+mj-lt"/>
              <a:buAutoNum type="arabicPeriod"/>
            </a:pPr>
            <a:r>
              <a:rPr lang="es-ES" dirty="0" smtClean="0"/>
              <a:t>Todas las funciones colectivas son bloqueantes, todas llaman a la función </a:t>
            </a:r>
            <a:r>
              <a:rPr lang="es-ES" dirty="0" err="1" smtClean="0"/>
              <a:t>Barrier</a:t>
            </a:r>
            <a:r>
              <a:rPr lang="es-ES" dirty="0" smtClean="0"/>
              <a:t>.</a:t>
            </a:r>
          </a:p>
          <a:p>
            <a:pPr>
              <a:buFont typeface="+mj-lt"/>
              <a:buAutoNum type="arabicPeriod"/>
            </a:pPr>
            <a:r>
              <a:rPr lang="es-ES" dirty="0" smtClean="0"/>
              <a:t>No admiten </a:t>
            </a:r>
            <a:r>
              <a:rPr lang="es-ES" dirty="0" err="1" smtClean="0"/>
              <a:t>intracomunicadores</a:t>
            </a:r>
            <a:r>
              <a:rPr lang="es-ES" dirty="0" smtClean="0"/>
              <a:t>, (comunicadores que generan dos grupos)</a:t>
            </a:r>
            <a:endParaRPr lang="es-ES" dirty="0"/>
          </a:p>
        </p:txBody>
      </p:sp>
    </p:spTree>
    <p:extLst>
      <p:ext uri="{BB962C8B-B14F-4D97-AF65-F5344CB8AC3E}">
        <p14:creationId xmlns:p14="http://schemas.microsoft.com/office/powerpoint/2010/main" val="3211316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Comunicaciones Colectivas</a:t>
            </a:r>
          </a:p>
        </p:txBody>
      </p:sp>
      <p:sp>
        <p:nvSpPr>
          <p:cNvPr id="3" name="Marcador de contenido 2"/>
          <p:cNvSpPr>
            <a:spLocks noGrp="1"/>
          </p:cNvSpPr>
          <p:nvPr>
            <p:ph idx="1"/>
          </p:nvPr>
        </p:nvSpPr>
        <p:spPr>
          <a:xfrm>
            <a:off x="2589212" y="2033016"/>
            <a:ext cx="8915400" cy="3777622"/>
          </a:xfrm>
        </p:spPr>
        <p:txBody>
          <a:bodyPr/>
          <a:lstStyle/>
          <a:p>
            <a:pPr marL="0" indent="0">
              <a:buNone/>
            </a:pPr>
            <a:r>
              <a:rPr lang="en-US" b="1" dirty="0" err="1"/>
              <a:t>int</a:t>
            </a:r>
            <a:r>
              <a:rPr lang="en-US" dirty="0"/>
              <a:t> </a:t>
            </a:r>
            <a:r>
              <a:rPr lang="en-US" dirty="0" err="1" smtClean="0"/>
              <a:t>MPI_Reduce</a:t>
            </a:r>
            <a:r>
              <a:rPr lang="en-US" dirty="0" smtClean="0"/>
              <a:t> (    </a:t>
            </a:r>
            <a:r>
              <a:rPr lang="en-US" b="1" dirty="0" smtClean="0"/>
              <a:t>MPICH2_CONST</a:t>
            </a:r>
            <a:r>
              <a:rPr lang="en-US" dirty="0" smtClean="0"/>
              <a:t> *</a:t>
            </a:r>
            <a:r>
              <a:rPr lang="en-US" dirty="0" err="1"/>
              <a:t>sendbuf</a:t>
            </a:r>
            <a:r>
              <a:rPr lang="en-US" dirty="0"/>
              <a:t>, </a:t>
            </a:r>
            <a:endParaRPr lang="en-US" dirty="0" smtClean="0"/>
          </a:p>
          <a:p>
            <a:pPr marL="0" indent="0">
              <a:buNone/>
            </a:pPr>
            <a:r>
              <a:rPr lang="en-US" b="1" dirty="0" smtClean="0"/>
              <a:t>						          void</a:t>
            </a:r>
            <a:r>
              <a:rPr lang="en-US" dirty="0" smtClean="0"/>
              <a:t> </a:t>
            </a:r>
            <a:r>
              <a:rPr lang="en-US" dirty="0"/>
              <a:t>*</a:t>
            </a:r>
            <a:r>
              <a:rPr lang="en-US" dirty="0" err="1"/>
              <a:t>recvbuf</a:t>
            </a:r>
            <a:r>
              <a:rPr lang="en-US" dirty="0"/>
              <a:t>, </a:t>
            </a:r>
            <a:endParaRPr lang="en-US" dirty="0" smtClean="0"/>
          </a:p>
          <a:p>
            <a:pPr marL="0" indent="0">
              <a:buNone/>
            </a:pPr>
            <a:r>
              <a:rPr lang="en-US" b="1" dirty="0" smtClean="0"/>
              <a:t>							           </a:t>
            </a:r>
            <a:r>
              <a:rPr lang="en-US" b="1" dirty="0" err="1" smtClean="0"/>
              <a:t>int</a:t>
            </a:r>
            <a:r>
              <a:rPr lang="en-US" dirty="0" smtClean="0"/>
              <a:t> </a:t>
            </a:r>
            <a:r>
              <a:rPr lang="en-US" dirty="0"/>
              <a:t>count, </a:t>
            </a:r>
            <a:endParaRPr lang="en-US" dirty="0" smtClean="0"/>
          </a:p>
          <a:p>
            <a:pPr marL="0" indent="0">
              <a:buNone/>
            </a:pPr>
            <a:r>
              <a:rPr lang="en-US" b="1" dirty="0" smtClean="0"/>
              <a:t>				      </a:t>
            </a:r>
            <a:r>
              <a:rPr lang="en-US" b="1" dirty="0" err="1" smtClean="0"/>
              <a:t>MPI_Datatype</a:t>
            </a:r>
            <a:r>
              <a:rPr lang="en-US" dirty="0" smtClean="0"/>
              <a:t> </a:t>
            </a:r>
            <a:r>
              <a:rPr lang="en-US" dirty="0" err="1" smtClean="0"/>
              <a:t>datatype</a:t>
            </a:r>
            <a:r>
              <a:rPr lang="en-US" dirty="0" smtClean="0"/>
              <a:t>, </a:t>
            </a:r>
          </a:p>
          <a:p>
            <a:pPr marL="0" indent="0">
              <a:buNone/>
            </a:pPr>
            <a:r>
              <a:rPr lang="en-US" b="1" dirty="0" smtClean="0"/>
              <a:t>					    	     </a:t>
            </a:r>
            <a:r>
              <a:rPr lang="en-US" b="1" dirty="0" err="1" smtClean="0"/>
              <a:t>MPI_Op</a:t>
            </a:r>
            <a:r>
              <a:rPr lang="en-US" dirty="0" smtClean="0"/>
              <a:t> </a:t>
            </a:r>
            <a:r>
              <a:rPr lang="en-US" dirty="0"/>
              <a:t>void </a:t>
            </a:r>
            <a:r>
              <a:rPr lang="en-US" dirty="0" smtClean="0"/>
              <a:t>op</a:t>
            </a:r>
            <a:r>
              <a:rPr lang="en-US" dirty="0"/>
              <a:t>, </a:t>
            </a:r>
            <a:endParaRPr lang="en-US" u="sng" dirty="0" smtClean="0"/>
          </a:p>
          <a:p>
            <a:pPr marL="0" indent="0">
              <a:buNone/>
            </a:pPr>
            <a:r>
              <a:rPr lang="en-US" b="1" dirty="0" smtClean="0"/>
              <a:t>					 			      </a:t>
            </a:r>
            <a:r>
              <a:rPr lang="en-US" b="1" dirty="0" err="1" smtClean="0"/>
              <a:t>int</a:t>
            </a:r>
            <a:r>
              <a:rPr lang="en-US" dirty="0" smtClean="0"/>
              <a:t> </a:t>
            </a:r>
            <a:r>
              <a:rPr lang="en-US" dirty="0"/>
              <a:t>root, </a:t>
            </a:r>
            <a:endParaRPr lang="en-US" dirty="0" smtClean="0"/>
          </a:p>
          <a:p>
            <a:pPr marL="0" indent="0">
              <a:buNone/>
            </a:pPr>
            <a:r>
              <a:rPr lang="en-US" b="1" dirty="0" smtClean="0"/>
              <a:t>					        </a:t>
            </a:r>
            <a:r>
              <a:rPr lang="en-US" b="1" dirty="0" err="1" smtClean="0"/>
              <a:t>MPI_Comm</a:t>
            </a:r>
            <a:r>
              <a:rPr lang="en-US" dirty="0" smtClean="0"/>
              <a:t> </a:t>
            </a:r>
            <a:r>
              <a:rPr lang="en-US" dirty="0" err="1"/>
              <a:t>comm</a:t>
            </a:r>
            <a:r>
              <a:rPr lang="en-US" dirty="0"/>
              <a:t>)</a:t>
            </a:r>
          </a:p>
          <a:p>
            <a:endParaRPr lang="es-ES" dirty="0"/>
          </a:p>
        </p:txBody>
      </p:sp>
    </p:spTree>
    <p:extLst>
      <p:ext uri="{BB962C8B-B14F-4D97-AF65-F5344CB8AC3E}">
        <p14:creationId xmlns:p14="http://schemas.microsoft.com/office/powerpoint/2010/main" val="864600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Comunicaciones Colectivas</a:t>
            </a:r>
          </a:p>
        </p:txBody>
      </p:sp>
      <p:sp>
        <p:nvSpPr>
          <p:cNvPr id="3" name="Marcador de contenido 2"/>
          <p:cNvSpPr>
            <a:spLocks noGrp="1"/>
          </p:cNvSpPr>
          <p:nvPr>
            <p:ph idx="1"/>
          </p:nvPr>
        </p:nvSpPr>
        <p:spPr>
          <a:xfrm>
            <a:off x="2592925" y="2142744"/>
            <a:ext cx="8915400" cy="3777622"/>
          </a:xfrm>
        </p:spPr>
        <p:txBody>
          <a:bodyPr/>
          <a:lstStyle/>
          <a:p>
            <a:pPr marL="0" indent="0">
              <a:buNone/>
            </a:pPr>
            <a:r>
              <a:rPr lang="es-ES" b="1" dirty="0" err="1"/>
              <a:t>int</a:t>
            </a:r>
            <a:r>
              <a:rPr lang="es-ES" dirty="0"/>
              <a:t> </a:t>
            </a:r>
            <a:r>
              <a:rPr lang="es-ES" dirty="0" err="1" smtClean="0"/>
              <a:t>MPI_Scatterv</a:t>
            </a:r>
            <a:r>
              <a:rPr lang="es-ES" dirty="0" smtClean="0"/>
              <a:t> (	</a:t>
            </a:r>
            <a:r>
              <a:rPr lang="es-ES" b="1" dirty="0" err="1" smtClean="0"/>
              <a:t>void</a:t>
            </a:r>
            <a:r>
              <a:rPr lang="es-ES" dirty="0" smtClean="0"/>
              <a:t> </a:t>
            </a:r>
            <a:r>
              <a:rPr lang="es-ES" dirty="0"/>
              <a:t>*</a:t>
            </a:r>
            <a:r>
              <a:rPr lang="es-ES" dirty="0" err="1"/>
              <a:t>sendbuf</a:t>
            </a:r>
            <a:r>
              <a:rPr lang="es-ES" dirty="0"/>
              <a:t>, </a:t>
            </a:r>
            <a:endParaRPr lang="es-ES" dirty="0" smtClean="0"/>
          </a:p>
          <a:p>
            <a:pPr marL="0" indent="0">
              <a:buNone/>
            </a:pPr>
            <a:r>
              <a:rPr lang="es-ES" b="1" dirty="0" smtClean="0"/>
              <a:t>				  	 </a:t>
            </a:r>
            <a:r>
              <a:rPr lang="es-ES" b="1" dirty="0" err="1" smtClean="0"/>
              <a:t>int</a:t>
            </a:r>
            <a:r>
              <a:rPr lang="es-ES" dirty="0" smtClean="0"/>
              <a:t> </a:t>
            </a:r>
            <a:r>
              <a:rPr lang="es-ES" dirty="0"/>
              <a:t>*</a:t>
            </a:r>
            <a:r>
              <a:rPr lang="es-ES" dirty="0" err="1"/>
              <a:t>sendcnts</a:t>
            </a:r>
            <a:r>
              <a:rPr lang="es-ES" dirty="0"/>
              <a:t>, </a:t>
            </a:r>
            <a:endParaRPr lang="es-ES" dirty="0" smtClean="0"/>
          </a:p>
          <a:p>
            <a:pPr marL="0" indent="0">
              <a:buNone/>
            </a:pPr>
            <a:r>
              <a:rPr lang="es-ES" b="1" dirty="0"/>
              <a:t>				 </a:t>
            </a:r>
            <a:r>
              <a:rPr lang="es-ES" b="1" dirty="0" smtClean="0"/>
              <a:t>        	</a:t>
            </a:r>
            <a:r>
              <a:rPr lang="es-ES" b="1" dirty="0" err="1" smtClean="0"/>
              <a:t>int</a:t>
            </a:r>
            <a:r>
              <a:rPr lang="es-ES" dirty="0" smtClean="0"/>
              <a:t> </a:t>
            </a:r>
            <a:r>
              <a:rPr lang="es-ES" dirty="0"/>
              <a:t>*</a:t>
            </a:r>
            <a:r>
              <a:rPr lang="es-ES" dirty="0" err="1"/>
              <a:t>displs</a:t>
            </a:r>
            <a:r>
              <a:rPr lang="es-ES" dirty="0"/>
              <a:t>,</a:t>
            </a:r>
          </a:p>
          <a:p>
            <a:pPr marL="0" indent="0">
              <a:buNone/>
            </a:pPr>
            <a:r>
              <a:rPr lang="es-ES" b="1" dirty="0"/>
              <a:t>	</a:t>
            </a:r>
            <a:r>
              <a:rPr lang="es-ES" b="1" dirty="0" smtClean="0"/>
              <a:t>    	   </a:t>
            </a:r>
            <a:r>
              <a:rPr lang="es-ES" b="1" dirty="0" err="1" smtClean="0"/>
              <a:t>MPI_Datatype</a:t>
            </a:r>
            <a:r>
              <a:rPr lang="es-ES" dirty="0" smtClean="0"/>
              <a:t> </a:t>
            </a:r>
            <a:r>
              <a:rPr lang="es-ES" dirty="0" err="1"/>
              <a:t>sendtype</a:t>
            </a:r>
            <a:r>
              <a:rPr lang="es-ES" dirty="0"/>
              <a:t>, </a:t>
            </a:r>
            <a:endParaRPr lang="es-ES" dirty="0" smtClean="0"/>
          </a:p>
          <a:p>
            <a:pPr marL="0" indent="0">
              <a:buNone/>
            </a:pPr>
            <a:r>
              <a:rPr lang="es-ES" b="1" dirty="0"/>
              <a:t>				 </a:t>
            </a:r>
            <a:r>
              <a:rPr lang="es-ES" b="1" dirty="0" smtClean="0"/>
              <a:t>	</a:t>
            </a:r>
            <a:r>
              <a:rPr lang="es-ES" b="1" dirty="0" err="1" smtClean="0"/>
              <a:t>void</a:t>
            </a:r>
            <a:r>
              <a:rPr lang="es-ES" dirty="0" smtClean="0"/>
              <a:t> </a:t>
            </a:r>
            <a:r>
              <a:rPr lang="es-ES" dirty="0"/>
              <a:t>*</a:t>
            </a:r>
            <a:r>
              <a:rPr lang="es-ES" dirty="0" err="1"/>
              <a:t>recvbuf</a:t>
            </a:r>
            <a:r>
              <a:rPr lang="es-ES" dirty="0" smtClean="0"/>
              <a:t>,</a:t>
            </a:r>
          </a:p>
          <a:p>
            <a:pPr marL="0" indent="0">
              <a:buNone/>
            </a:pPr>
            <a:r>
              <a:rPr lang="es-ES" b="1" dirty="0"/>
              <a:t>				 </a:t>
            </a:r>
            <a:r>
              <a:rPr lang="es-ES" dirty="0" smtClean="0"/>
              <a:t>     	     </a:t>
            </a:r>
            <a:r>
              <a:rPr lang="es-ES" b="1" dirty="0" err="1" smtClean="0"/>
              <a:t>int</a:t>
            </a:r>
            <a:r>
              <a:rPr lang="es-ES" dirty="0" smtClean="0"/>
              <a:t> </a:t>
            </a:r>
            <a:r>
              <a:rPr lang="es-ES" dirty="0" err="1"/>
              <a:t>recvcnt</a:t>
            </a:r>
            <a:r>
              <a:rPr lang="es-ES" dirty="0"/>
              <a:t>,</a:t>
            </a:r>
          </a:p>
          <a:p>
            <a:pPr marL="0" indent="0">
              <a:buNone/>
            </a:pPr>
            <a:r>
              <a:rPr lang="es-ES" b="1" dirty="0" smtClean="0"/>
              <a:t>            	    </a:t>
            </a:r>
            <a:r>
              <a:rPr lang="es-ES" b="1" dirty="0" err="1" smtClean="0"/>
              <a:t>MPI_Datatype</a:t>
            </a:r>
            <a:r>
              <a:rPr lang="es-ES" dirty="0" smtClean="0"/>
              <a:t> </a:t>
            </a:r>
            <a:r>
              <a:rPr lang="es-ES" dirty="0" err="1"/>
              <a:t>recvtype</a:t>
            </a:r>
            <a:r>
              <a:rPr lang="es-ES" dirty="0"/>
              <a:t>,</a:t>
            </a:r>
          </a:p>
          <a:p>
            <a:pPr marL="0" indent="0">
              <a:buNone/>
            </a:pPr>
            <a:r>
              <a:rPr lang="es-ES" b="1" dirty="0"/>
              <a:t>				 </a:t>
            </a:r>
            <a:r>
              <a:rPr lang="es-ES" b="1" dirty="0" smtClean="0"/>
              <a:t>           	    </a:t>
            </a:r>
            <a:r>
              <a:rPr lang="es-ES" b="1" dirty="0" err="1" smtClean="0"/>
              <a:t>int</a:t>
            </a:r>
            <a:r>
              <a:rPr lang="es-ES" dirty="0" smtClean="0"/>
              <a:t> </a:t>
            </a:r>
            <a:r>
              <a:rPr lang="es-ES" dirty="0" err="1"/>
              <a:t>root</a:t>
            </a:r>
            <a:r>
              <a:rPr lang="es-ES" dirty="0"/>
              <a:t>, </a:t>
            </a:r>
            <a:endParaRPr lang="es-ES" dirty="0" smtClean="0"/>
          </a:p>
          <a:p>
            <a:pPr marL="0" indent="0">
              <a:buNone/>
            </a:pPr>
            <a:r>
              <a:rPr lang="es-ES" b="1" dirty="0"/>
              <a:t>		</a:t>
            </a:r>
            <a:r>
              <a:rPr lang="es-ES" b="1" dirty="0" smtClean="0"/>
              <a:t>      	     </a:t>
            </a:r>
            <a:r>
              <a:rPr lang="es-ES" b="1" dirty="0" err="1" smtClean="0"/>
              <a:t>MPI_Comm</a:t>
            </a:r>
            <a:r>
              <a:rPr lang="es-ES" dirty="0" smtClean="0"/>
              <a:t> </a:t>
            </a:r>
            <a:r>
              <a:rPr lang="es-ES" dirty="0" err="1"/>
              <a:t>comm</a:t>
            </a:r>
            <a:r>
              <a:rPr lang="es-ES" dirty="0"/>
              <a:t>)</a:t>
            </a:r>
          </a:p>
          <a:p>
            <a:endParaRPr lang="es-ES" dirty="0"/>
          </a:p>
        </p:txBody>
      </p:sp>
    </p:spTree>
    <p:extLst>
      <p:ext uri="{BB962C8B-B14F-4D97-AF65-F5344CB8AC3E}">
        <p14:creationId xmlns:p14="http://schemas.microsoft.com/office/powerpoint/2010/main" val="42830846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Comunicaciones Colectivas</a:t>
            </a:r>
          </a:p>
        </p:txBody>
      </p:sp>
      <p:pic>
        <p:nvPicPr>
          <p:cNvPr id="7" name="Marcador de contenido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98006" y="2524271"/>
            <a:ext cx="8229229" cy="3016993"/>
          </a:xfrm>
          <a:prstGeom prst="rect">
            <a:avLst/>
          </a:prstGeom>
        </p:spPr>
      </p:pic>
    </p:spTree>
    <p:extLst>
      <p:ext uri="{BB962C8B-B14F-4D97-AF65-F5344CB8AC3E}">
        <p14:creationId xmlns:p14="http://schemas.microsoft.com/office/powerpoint/2010/main" val="16925341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Comunicaciones Colectivas</a:t>
            </a:r>
          </a:p>
        </p:txBody>
      </p:sp>
      <p:pic>
        <p:nvPicPr>
          <p:cNvPr id="5" name="Marcador de contenido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24850" y="1905000"/>
            <a:ext cx="6232478" cy="2284946"/>
          </a:xfrm>
        </p:spPr>
      </p:pic>
      <p:pic>
        <p:nvPicPr>
          <p:cNvPr id="6" name="Marcador de contenido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26655" y="4246702"/>
            <a:ext cx="6677957" cy="2448267"/>
          </a:xfrm>
          <a:prstGeom prst="rect">
            <a:avLst/>
          </a:prstGeom>
        </p:spPr>
      </p:pic>
    </p:spTree>
    <p:extLst>
      <p:ext uri="{BB962C8B-B14F-4D97-AF65-F5344CB8AC3E}">
        <p14:creationId xmlns:p14="http://schemas.microsoft.com/office/powerpoint/2010/main" val="42492554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Tipos de Datos Derivados y Comunicadores</a:t>
            </a:r>
          </a:p>
        </p:txBody>
      </p:sp>
      <p:sp>
        <p:nvSpPr>
          <p:cNvPr id="3" name="Marcador de contenido 2"/>
          <p:cNvSpPr>
            <a:spLocks noGrp="1"/>
          </p:cNvSpPr>
          <p:nvPr>
            <p:ph idx="1"/>
          </p:nvPr>
        </p:nvSpPr>
        <p:spPr/>
        <p:txBody>
          <a:bodyPr>
            <a:normAutofit/>
          </a:bodyPr>
          <a:lstStyle/>
          <a:p>
            <a:r>
              <a:rPr lang="es-ES" sz="2400" dirty="0" smtClean="0"/>
              <a:t>Existen dos tipos de datos:</a:t>
            </a:r>
          </a:p>
          <a:p>
            <a:endParaRPr lang="es-ES" sz="2400" dirty="0" smtClean="0"/>
          </a:p>
          <a:p>
            <a:pPr lvl="1"/>
            <a:r>
              <a:rPr lang="es-ES" sz="2000" dirty="0" smtClean="0"/>
              <a:t>Tipos de datos elementales</a:t>
            </a:r>
          </a:p>
          <a:p>
            <a:pPr lvl="1"/>
            <a:endParaRPr lang="es-ES" sz="2000" dirty="0" smtClean="0"/>
          </a:p>
          <a:p>
            <a:pPr lvl="1"/>
            <a:r>
              <a:rPr lang="es-ES" sz="2000" dirty="0" smtClean="0"/>
              <a:t>Tipos de datos derivados</a:t>
            </a:r>
            <a:endParaRPr lang="es-ES" sz="2000" dirty="0"/>
          </a:p>
        </p:txBody>
      </p:sp>
    </p:spTree>
    <p:extLst>
      <p:ext uri="{BB962C8B-B14F-4D97-AF65-F5344CB8AC3E}">
        <p14:creationId xmlns:p14="http://schemas.microsoft.com/office/powerpoint/2010/main" val="35948376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Tipos de Datos Derivados y Comunicadores</a:t>
            </a:r>
          </a:p>
        </p:txBody>
      </p:sp>
      <p:sp>
        <p:nvSpPr>
          <p:cNvPr id="3" name="Marcador de contenido 2"/>
          <p:cNvSpPr>
            <a:spLocks noGrp="1"/>
          </p:cNvSpPr>
          <p:nvPr>
            <p:ph idx="1"/>
          </p:nvPr>
        </p:nvSpPr>
        <p:spPr/>
        <p:txBody>
          <a:bodyPr>
            <a:normAutofit/>
          </a:bodyPr>
          <a:lstStyle/>
          <a:p>
            <a:endParaRPr lang="es-ES" sz="2400" dirty="0" smtClean="0"/>
          </a:p>
          <a:p>
            <a:r>
              <a:rPr lang="es-ES" sz="2400" dirty="0" err="1" smtClean="0"/>
              <a:t>Datatype</a:t>
            </a:r>
            <a:r>
              <a:rPr lang="es-ES" sz="2400" dirty="0" smtClean="0"/>
              <a:t> </a:t>
            </a:r>
            <a:r>
              <a:rPr lang="es-ES" sz="2400" dirty="0" err="1" smtClean="0"/>
              <a:t>signature</a:t>
            </a:r>
            <a:endParaRPr lang="es-ES" sz="2400" dirty="0" smtClean="0"/>
          </a:p>
          <a:p>
            <a:pPr lvl="1"/>
            <a:endParaRPr lang="es-ES" sz="2000" dirty="0" smtClean="0"/>
          </a:p>
          <a:p>
            <a:pPr lvl="1"/>
            <a:r>
              <a:rPr lang="es-ES" sz="2000" dirty="0" smtClean="0"/>
              <a:t>El emisor y el receptor pueden declarar distintos tipos de datos siempre y cuando tengan la misma firma.</a:t>
            </a:r>
            <a:endParaRPr lang="es-ES" sz="2000" dirty="0"/>
          </a:p>
        </p:txBody>
      </p:sp>
    </p:spTree>
    <p:extLst>
      <p:ext uri="{BB962C8B-B14F-4D97-AF65-F5344CB8AC3E}">
        <p14:creationId xmlns:p14="http://schemas.microsoft.com/office/powerpoint/2010/main" val="36185689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Tipos de Datos Derivados y Comunicadores</a:t>
            </a:r>
          </a:p>
        </p:txBody>
      </p:sp>
      <p:sp>
        <p:nvSpPr>
          <p:cNvPr id="3" name="Marcador de contenido 2"/>
          <p:cNvSpPr>
            <a:spLocks noGrp="1"/>
          </p:cNvSpPr>
          <p:nvPr>
            <p:ph idx="1"/>
          </p:nvPr>
        </p:nvSpPr>
        <p:spPr/>
        <p:txBody>
          <a:bodyPr>
            <a:normAutofit/>
          </a:bodyPr>
          <a:lstStyle/>
          <a:p>
            <a:r>
              <a:rPr lang="es-ES" sz="2400" dirty="0" smtClean="0"/>
              <a:t>Llamadas básicas</a:t>
            </a:r>
          </a:p>
          <a:p>
            <a:pPr lvl="1"/>
            <a:r>
              <a:rPr lang="es-ES" sz="2000" dirty="0" err="1" smtClean="0"/>
              <a:t>MPI_Type_contiguous</a:t>
            </a:r>
            <a:endParaRPr lang="es-ES" sz="2000" dirty="0" smtClean="0"/>
          </a:p>
          <a:p>
            <a:pPr lvl="1"/>
            <a:r>
              <a:rPr lang="es-ES" sz="2000" dirty="0" err="1" smtClean="0"/>
              <a:t>MPI_Type_cretae_subarray</a:t>
            </a:r>
            <a:endParaRPr lang="es-ES" sz="2000" dirty="0"/>
          </a:p>
          <a:p>
            <a:pPr lvl="1"/>
            <a:r>
              <a:rPr lang="es-ES" sz="2000" dirty="0" err="1" smtClean="0"/>
              <a:t>MPI_Type_vector</a:t>
            </a:r>
            <a:endParaRPr lang="es-ES" sz="2000" dirty="0"/>
          </a:p>
          <a:p>
            <a:pPr lvl="1"/>
            <a:r>
              <a:rPr lang="es-ES" sz="2000" dirty="0" err="1" smtClean="0"/>
              <a:t>MPI_Type_struct</a:t>
            </a:r>
            <a:endParaRPr lang="es-ES" sz="2000" dirty="0"/>
          </a:p>
          <a:p>
            <a:pPr lvl="1"/>
            <a:r>
              <a:rPr lang="es-ES" sz="2000" dirty="0" err="1" smtClean="0"/>
              <a:t>MPI_Type_indexed</a:t>
            </a:r>
            <a:endParaRPr lang="es-ES" sz="2000" dirty="0"/>
          </a:p>
          <a:p>
            <a:pPr lvl="1"/>
            <a:r>
              <a:rPr lang="es-ES" sz="2000" dirty="0" err="1" smtClean="0"/>
              <a:t>MPI_Type_hindexed</a:t>
            </a:r>
            <a:endParaRPr lang="es-ES" sz="2000" dirty="0"/>
          </a:p>
          <a:p>
            <a:pPr lvl="1"/>
            <a:endParaRPr lang="es-ES" sz="2000" dirty="0"/>
          </a:p>
        </p:txBody>
      </p:sp>
    </p:spTree>
    <p:extLst>
      <p:ext uri="{BB962C8B-B14F-4D97-AF65-F5344CB8AC3E}">
        <p14:creationId xmlns:p14="http://schemas.microsoft.com/office/powerpoint/2010/main" val="12266576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Tipos de Datos Derivados y Comunicadores</a:t>
            </a:r>
          </a:p>
        </p:txBody>
      </p:sp>
      <p:sp>
        <p:nvSpPr>
          <p:cNvPr id="3" name="Marcador de contenido 2"/>
          <p:cNvSpPr>
            <a:spLocks noGrp="1"/>
          </p:cNvSpPr>
          <p:nvPr>
            <p:ph idx="1"/>
          </p:nvPr>
        </p:nvSpPr>
        <p:spPr/>
        <p:txBody>
          <a:bodyPr>
            <a:normAutofit/>
          </a:bodyPr>
          <a:lstStyle/>
          <a:p>
            <a:r>
              <a:rPr lang="es-ES" sz="2400" dirty="0" smtClean="0"/>
              <a:t>Tipo contiguo:</a:t>
            </a:r>
          </a:p>
          <a:p>
            <a:pPr lvl="1"/>
            <a:r>
              <a:rPr lang="es-ES" sz="2200" dirty="0" smtClean="0"/>
              <a:t>Define un </a:t>
            </a:r>
            <a:r>
              <a:rPr lang="es-ES" sz="2200" dirty="0" err="1" smtClean="0"/>
              <a:t>array</a:t>
            </a:r>
            <a:r>
              <a:rPr lang="es-ES" sz="2200" dirty="0" smtClean="0"/>
              <a:t> de elementos contiguos en memoria.</a:t>
            </a:r>
          </a:p>
          <a:p>
            <a:pPr lvl="1"/>
            <a:endParaRPr lang="es-ES" sz="2200" dirty="0"/>
          </a:p>
          <a:p>
            <a:r>
              <a:rPr lang="es-ES" sz="2400" dirty="0" smtClean="0"/>
              <a:t>Tipo vector:</a:t>
            </a:r>
          </a:p>
          <a:p>
            <a:pPr lvl="1"/>
            <a:r>
              <a:rPr lang="es-ES" sz="2200" dirty="0" smtClean="0"/>
              <a:t>Describe una serie de bloques, todos de la misma longitud y espaciados con un mismo </a:t>
            </a:r>
            <a:r>
              <a:rPr lang="es-ES" sz="2200" dirty="0" err="1" smtClean="0"/>
              <a:t>stride</a:t>
            </a:r>
            <a:r>
              <a:rPr lang="es-ES" sz="2200" dirty="0" smtClean="0"/>
              <a:t>.</a:t>
            </a:r>
          </a:p>
          <a:p>
            <a:pPr lvl="1"/>
            <a:endParaRPr lang="es-ES" sz="2200" dirty="0" smtClean="0"/>
          </a:p>
        </p:txBody>
      </p:sp>
      <p:pic>
        <p:nvPicPr>
          <p:cNvPr id="5" name="Imagen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39064" y="4863882"/>
            <a:ext cx="6015696" cy="1736349"/>
          </a:xfrm>
          <a:prstGeom prst="rect">
            <a:avLst/>
          </a:prstGeom>
        </p:spPr>
      </p:pic>
    </p:spTree>
    <p:extLst>
      <p:ext uri="{BB962C8B-B14F-4D97-AF65-F5344CB8AC3E}">
        <p14:creationId xmlns:p14="http://schemas.microsoft.com/office/powerpoint/2010/main" val="4760123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Tipos de Datos Derivados y Comunicadores</a:t>
            </a:r>
          </a:p>
        </p:txBody>
      </p:sp>
      <p:sp>
        <p:nvSpPr>
          <p:cNvPr id="3" name="Marcador de contenido 2"/>
          <p:cNvSpPr>
            <a:spLocks noGrp="1"/>
          </p:cNvSpPr>
          <p:nvPr>
            <p:ph idx="1"/>
          </p:nvPr>
        </p:nvSpPr>
        <p:spPr/>
        <p:txBody>
          <a:bodyPr>
            <a:normAutofit/>
          </a:bodyPr>
          <a:lstStyle/>
          <a:p>
            <a:r>
              <a:rPr lang="es-ES" sz="2400" dirty="0" smtClean="0"/>
              <a:t>Tipo indexado:</a:t>
            </a:r>
          </a:p>
          <a:p>
            <a:pPr lvl="1"/>
            <a:r>
              <a:rPr lang="es-ES" sz="2200" dirty="0" smtClean="0"/>
              <a:t>Consiste en un vector que actúa como índice y los datos.</a:t>
            </a:r>
          </a:p>
          <a:p>
            <a:endParaRPr lang="es-ES" sz="2400" dirty="0" smtClean="0"/>
          </a:p>
          <a:p>
            <a:r>
              <a:rPr lang="es-ES" sz="2400" dirty="0" smtClean="0"/>
              <a:t>Tipo </a:t>
            </a:r>
            <a:r>
              <a:rPr lang="es-ES" sz="2400" dirty="0" err="1" smtClean="0"/>
              <a:t>struct</a:t>
            </a:r>
            <a:r>
              <a:rPr lang="es-ES" sz="2400" dirty="0" smtClean="0"/>
              <a:t>:</a:t>
            </a:r>
          </a:p>
          <a:p>
            <a:pPr lvl="1"/>
            <a:r>
              <a:rPr lang="es-ES" sz="2200" dirty="0" smtClean="0"/>
              <a:t>Es una estructura que puede contener múltiples tipos de datos.</a:t>
            </a:r>
          </a:p>
          <a:p>
            <a:pPr lvl="1"/>
            <a:endParaRPr lang="es-ES" sz="2200" dirty="0"/>
          </a:p>
        </p:txBody>
      </p:sp>
      <p:pic>
        <p:nvPicPr>
          <p:cNvPr id="4" name="Imagen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19430" y="5006333"/>
            <a:ext cx="6254963" cy="1522372"/>
          </a:xfrm>
          <a:prstGeom prst="rect">
            <a:avLst/>
          </a:prstGeom>
        </p:spPr>
      </p:pic>
    </p:spTree>
    <p:extLst>
      <p:ext uri="{BB962C8B-B14F-4D97-AF65-F5344CB8AC3E}">
        <p14:creationId xmlns:p14="http://schemas.microsoft.com/office/powerpoint/2010/main" val="41117295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Tipos de Datos Derivados y Comunicadores</a:t>
            </a:r>
          </a:p>
        </p:txBody>
      </p:sp>
      <p:sp>
        <p:nvSpPr>
          <p:cNvPr id="3" name="Marcador de contenido 2"/>
          <p:cNvSpPr>
            <a:spLocks noGrp="1"/>
          </p:cNvSpPr>
          <p:nvPr>
            <p:ph idx="1"/>
          </p:nvPr>
        </p:nvSpPr>
        <p:spPr/>
        <p:txBody>
          <a:bodyPr>
            <a:normAutofit/>
          </a:bodyPr>
          <a:lstStyle/>
          <a:p>
            <a:r>
              <a:rPr lang="es-ES" sz="2400" u="sng" dirty="0" smtClean="0"/>
              <a:t>Empaquetado</a:t>
            </a:r>
          </a:p>
          <a:p>
            <a:pPr lvl="1"/>
            <a:endParaRPr lang="es-ES" sz="2200" u="sng" dirty="0"/>
          </a:p>
        </p:txBody>
      </p:sp>
      <p:pic>
        <p:nvPicPr>
          <p:cNvPr id="4" name="Imagen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02284" y="3624871"/>
            <a:ext cx="8802328" cy="2514951"/>
          </a:xfrm>
          <a:prstGeom prst="rect">
            <a:avLst/>
          </a:prstGeom>
        </p:spPr>
      </p:pic>
    </p:spTree>
    <p:extLst>
      <p:ext uri="{BB962C8B-B14F-4D97-AF65-F5344CB8AC3E}">
        <p14:creationId xmlns:p14="http://schemas.microsoft.com/office/powerpoint/2010/main" val="35274669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txBox="1">
            <a:spLocks/>
          </p:cNvSpPr>
          <p:nvPr/>
        </p:nvSpPr>
        <p:spPr>
          <a:xfrm>
            <a:off x="2592925" y="624110"/>
            <a:ext cx="8911687" cy="1280890"/>
          </a:xfrm>
          <a:prstGeom prst="rect">
            <a:avLst/>
          </a:prstGeom>
        </p:spPr>
        <p:txBody>
          <a:bodyPr/>
          <a:lstStyle>
            <a:lvl1pPr algn="l" defTabSz="457200" rtl="0" eaLnBrk="1" latinLnBrk="0" hangingPunct="1">
              <a:spcBef>
                <a:spcPct val="0"/>
              </a:spcBef>
              <a:buNone/>
              <a:defRPr sz="3600" kern="1200">
                <a:solidFill>
                  <a:schemeClr val="accent2">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s-ES" dirty="0" smtClean="0"/>
              <a:t>Reparto estático de tareas</a:t>
            </a:r>
            <a:endParaRPr lang="es-ES" dirty="0"/>
          </a:p>
        </p:txBody>
      </p:sp>
      <p:sp>
        <p:nvSpPr>
          <p:cNvPr id="3" name="Marcador de contenido 2"/>
          <p:cNvSpPr txBox="1">
            <a:spLocks/>
          </p:cNvSpPr>
          <p:nvPr/>
        </p:nvSpPr>
        <p:spPr>
          <a:xfrm>
            <a:off x="2589212" y="2133600"/>
            <a:ext cx="8915400" cy="3777622"/>
          </a:xfrm>
          <a:prstGeom prst="rect">
            <a:avLst/>
          </a:prstGeom>
        </p:spPr>
        <p:txBody>
          <a:bodyPr>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r>
              <a:rPr lang="es-ES" sz="2400" dirty="0" smtClean="0"/>
              <a:t>Ventajas:</a:t>
            </a:r>
          </a:p>
          <a:p>
            <a:pPr lvl="1"/>
            <a:r>
              <a:rPr lang="es-ES" sz="2200" dirty="0" smtClean="0"/>
              <a:t>Carga de trabajo totalmente equitativa entre procesadores.</a:t>
            </a:r>
          </a:p>
          <a:p>
            <a:pPr lvl="1"/>
            <a:r>
              <a:rPr lang="es-ES" sz="2200" dirty="0" smtClean="0"/>
              <a:t>No hay pérdida de tiempo en reparto de tareas en tiempo real.</a:t>
            </a:r>
            <a:endParaRPr lang="es-ES" sz="2400" dirty="0" smtClean="0"/>
          </a:p>
          <a:p>
            <a:r>
              <a:rPr lang="es-ES" sz="2400" dirty="0" smtClean="0"/>
              <a:t>Desventajas:</a:t>
            </a:r>
          </a:p>
          <a:p>
            <a:pPr lvl="1"/>
            <a:r>
              <a:rPr lang="es-ES" sz="2200" dirty="0" smtClean="0"/>
              <a:t>Cargas desbalanceadas.</a:t>
            </a:r>
          </a:p>
          <a:p>
            <a:pPr lvl="1"/>
            <a:r>
              <a:rPr lang="es-ES" sz="2200" dirty="0" smtClean="0"/>
              <a:t>Saturación de procesadores mientras otros han terminado.</a:t>
            </a:r>
          </a:p>
          <a:p>
            <a:pPr lvl="1"/>
            <a:endParaRPr lang="es-ES" sz="2200" dirty="0"/>
          </a:p>
        </p:txBody>
      </p:sp>
    </p:spTree>
    <p:extLst>
      <p:ext uri="{BB962C8B-B14F-4D97-AF65-F5344CB8AC3E}">
        <p14:creationId xmlns:p14="http://schemas.microsoft.com/office/powerpoint/2010/main" val="15589683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txBox="1">
            <a:spLocks/>
          </p:cNvSpPr>
          <p:nvPr/>
        </p:nvSpPr>
        <p:spPr>
          <a:xfrm>
            <a:off x="2592925" y="624110"/>
            <a:ext cx="8911687" cy="1280890"/>
          </a:xfrm>
          <a:prstGeom prst="rect">
            <a:avLst/>
          </a:prstGeom>
        </p:spPr>
        <p:txBody>
          <a:bodyPr/>
          <a:lstStyle>
            <a:lvl1pPr algn="l" defTabSz="457200" rtl="0" eaLnBrk="1" latinLnBrk="0" hangingPunct="1">
              <a:spcBef>
                <a:spcPct val="0"/>
              </a:spcBef>
              <a:buNone/>
              <a:defRPr sz="3600" kern="1200">
                <a:solidFill>
                  <a:schemeClr val="accent2">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s-ES" dirty="0" smtClean="0"/>
              <a:t>Reparto dinámico de tareas</a:t>
            </a:r>
            <a:endParaRPr lang="es-ES" dirty="0"/>
          </a:p>
        </p:txBody>
      </p:sp>
      <p:sp>
        <p:nvSpPr>
          <p:cNvPr id="3" name="Marcador de contenido 2"/>
          <p:cNvSpPr txBox="1">
            <a:spLocks/>
          </p:cNvSpPr>
          <p:nvPr/>
        </p:nvSpPr>
        <p:spPr>
          <a:xfrm>
            <a:off x="2589212" y="2133600"/>
            <a:ext cx="8915400" cy="3777622"/>
          </a:xfrm>
          <a:prstGeom prst="rect">
            <a:avLst/>
          </a:prstGeom>
        </p:spPr>
        <p:txBody>
          <a:bodyPr>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r>
              <a:rPr lang="es-ES" sz="2400" dirty="0" smtClean="0"/>
              <a:t>Ventajas:</a:t>
            </a:r>
          </a:p>
          <a:p>
            <a:pPr lvl="1"/>
            <a:r>
              <a:rPr lang="es-ES" sz="2200" dirty="0" smtClean="0"/>
              <a:t>Mayor control sobre el balanceo de cargas</a:t>
            </a:r>
          </a:p>
          <a:p>
            <a:endParaRPr lang="es-ES" sz="2400" dirty="0" smtClean="0"/>
          </a:p>
          <a:p>
            <a:r>
              <a:rPr lang="es-ES" sz="2400" dirty="0" smtClean="0"/>
              <a:t>Desventajas:</a:t>
            </a:r>
          </a:p>
          <a:p>
            <a:pPr lvl="1"/>
            <a:r>
              <a:rPr lang="es-ES" sz="2200" dirty="0" smtClean="0"/>
              <a:t>Pérdida de tiempo en la repartición en ejecución de tareas.</a:t>
            </a:r>
          </a:p>
          <a:p>
            <a:pPr lvl="1"/>
            <a:endParaRPr lang="es-ES" sz="2200" dirty="0"/>
          </a:p>
        </p:txBody>
      </p:sp>
    </p:spTree>
    <p:extLst>
      <p:ext uri="{BB962C8B-B14F-4D97-AF65-F5344CB8AC3E}">
        <p14:creationId xmlns:p14="http://schemas.microsoft.com/office/powerpoint/2010/main" val="22393720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txBox="1">
            <a:spLocks/>
          </p:cNvSpPr>
          <p:nvPr/>
        </p:nvSpPr>
        <p:spPr>
          <a:xfrm>
            <a:off x="2592925" y="624110"/>
            <a:ext cx="8911687" cy="1280890"/>
          </a:xfrm>
          <a:prstGeom prst="rect">
            <a:avLst/>
          </a:prstGeom>
        </p:spPr>
        <p:txBody>
          <a:bodyPr/>
          <a:lstStyle>
            <a:lvl1pPr algn="l" defTabSz="457200" rtl="0" eaLnBrk="1" latinLnBrk="0" hangingPunct="1">
              <a:spcBef>
                <a:spcPct val="0"/>
              </a:spcBef>
              <a:buNone/>
              <a:defRPr sz="3600" kern="1200">
                <a:solidFill>
                  <a:schemeClr val="accent2">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s-ES" dirty="0" smtClean="0"/>
              <a:t>Problema de la frontera</a:t>
            </a:r>
            <a:endParaRPr lang="es-ES" dirty="0"/>
          </a:p>
        </p:txBody>
      </p:sp>
      <p:sp>
        <p:nvSpPr>
          <p:cNvPr id="3" name="Marcador de contenido 2"/>
          <p:cNvSpPr txBox="1">
            <a:spLocks/>
          </p:cNvSpPr>
          <p:nvPr/>
        </p:nvSpPr>
        <p:spPr>
          <a:xfrm>
            <a:off x="2589212" y="2133600"/>
            <a:ext cx="8915400" cy="3777622"/>
          </a:xfrm>
          <a:prstGeom prst="rect">
            <a:avLst/>
          </a:prstGeom>
        </p:spPr>
        <p:txBody>
          <a:bodyPr>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r>
              <a:rPr lang="es-ES" sz="2400" dirty="0" smtClean="0"/>
              <a:t>Al separar datos contiguos en los datos se generan dependencias.</a:t>
            </a:r>
          </a:p>
          <a:p>
            <a:endParaRPr lang="es-ES" sz="2400" dirty="0"/>
          </a:p>
          <a:p>
            <a:r>
              <a:rPr lang="es-ES" sz="2400" dirty="0" smtClean="0"/>
              <a:t>Necesidad de datos que están alojados en otro procesador</a:t>
            </a:r>
          </a:p>
          <a:p>
            <a:endParaRPr lang="es-ES" sz="2400" dirty="0"/>
          </a:p>
          <a:p>
            <a:r>
              <a:rPr lang="es-ES" sz="2400" dirty="0" smtClean="0"/>
              <a:t>Paso de mensajes para intercambiar información entre procesadores</a:t>
            </a:r>
            <a:endParaRPr lang="es-ES" sz="2200" dirty="0" smtClean="0"/>
          </a:p>
          <a:p>
            <a:pPr lvl="1"/>
            <a:endParaRPr lang="es-ES" sz="2200" dirty="0"/>
          </a:p>
        </p:txBody>
      </p:sp>
    </p:spTree>
    <p:extLst>
      <p:ext uri="{BB962C8B-B14F-4D97-AF65-F5344CB8AC3E}">
        <p14:creationId xmlns:p14="http://schemas.microsoft.com/office/powerpoint/2010/main" val="379930980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txBox="1">
            <a:spLocks/>
          </p:cNvSpPr>
          <p:nvPr/>
        </p:nvSpPr>
        <p:spPr>
          <a:xfrm>
            <a:off x="2592925" y="624110"/>
            <a:ext cx="8911687" cy="1280890"/>
          </a:xfrm>
          <a:prstGeom prst="rect">
            <a:avLst/>
          </a:prstGeom>
        </p:spPr>
        <p:txBody>
          <a:bodyPr/>
          <a:lstStyle>
            <a:lvl1pPr algn="l" defTabSz="457200" rtl="0" eaLnBrk="1" latinLnBrk="0" hangingPunct="1">
              <a:spcBef>
                <a:spcPct val="0"/>
              </a:spcBef>
              <a:buNone/>
              <a:defRPr sz="3600" kern="1200">
                <a:solidFill>
                  <a:schemeClr val="accent2">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s-ES" dirty="0" smtClean="0"/>
              <a:t>Comunicación bloqueante</a:t>
            </a:r>
            <a:endParaRPr lang="es-ES" dirty="0"/>
          </a:p>
        </p:txBody>
      </p:sp>
      <p:sp>
        <p:nvSpPr>
          <p:cNvPr id="3" name="Marcador de contenido 2"/>
          <p:cNvSpPr txBox="1">
            <a:spLocks/>
          </p:cNvSpPr>
          <p:nvPr/>
        </p:nvSpPr>
        <p:spPr>
          <a:xfrm>
            <a:off x="2589212" y="2133600"/>
            <a:ext cx="8915400" cy="3777622"/>
          </a:xfrm>
          <a:prstGeom prst="rect">
            <a:avLst/>
          </a:prstGeom>
        </p:spPr>
        <p:txBody>
          <a:bodyPr>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r>
              <a:rPr lang="es-ES" sz="2400" dirty="0" err="1" smtClean="0"/>
              <a:t>MPI_Send</a:t>
            </a:r>
            <a:r>
              <a:rPr lang="es-ES" sz="2400" dirty="0" smtClean="0"/>
              <a:t> y </a:t>
            </a:r>
            <a:r>
              <a:rPr lang="es-ES" sz="2400" dirty="0" err="1" smtClean="0"/>
              <a:t>MPI_Recv</a:t>
            </a:r>
            <a:r>
              <a:rPr lang="es-ES" sz="2400" dirty="0" smtClean="0"/>
              <a:t>.</a:t>
            </a:r>
          </a:p>
          <a:p>
            <a:endParaRPr lang="es-ES" sz="2400" dirty="0"/>
          </a:p>
          <a:p>
            <a:r>
              <a:rPr lang="es-ES" sz="2400" dirty="0" smtClean="0"/>
              <a:t>Hasta no recibir los datos el procesador se quedará a la espera.</a:t>
            </a:r>
          </a:p>
          <a:p>
            <a:endParaRPr lang="es-ES" sz="2400" dirty="0"/>
          </a:p>
          <a:p>
            <a:r>
              <a:rPr lang="es-ES" sz="2400" dirty="0" smtClean="0"/>
              <a:t>Problema: Interbloqueo</a:t>
            </a:r>
          </a:p>
          <a:p>
            <a:pPr lvl="1"/>
            <a:endParaRPr lang="es-ES" sz="2200" dirty="0"/>
          </a:p>
        </p:txBody>
      </p:sp>
    </p:spTree>
    <p:extLst>
      <p:ext uri="{BB962C8B-B14F-4D97-AF65-F5344CB8AC3E}">
        <p14:creationId xmlns:p14="http://schemas.microsoft.com/office/powerpoint/2010/main" val="164860506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txBox="1">
            <a:spLocks/>
          </p:cNvSpPr>
          <p:nvPr/>
        </p:nvSpPr>
        <p:spPr>
          <a:xfrm>
            <a:off x="2592925" y="624110"/>
            <a:ext cx="8911687" cy="1280890"/>
          </a:xfrm>
          <a:prstGeom prst="rect">
            <a:avLst/>
          </a:prstGeom>
        </p:spPr>
        <p:txBody>
          <a:bodyPr/>
          <a:lstStyle>
            <a:lvl1pPr algn="l" defTabSz="457200" rtl="0" eaLnBrk="1" latinLnBrk="0" hangingPunct="1">
              <a:spcBef>
                <a:spcPct val="0"/>
              </a:spcBef>
              <a:buNone/>
              <a:defRPr sz="3600" kern="1200">
                <a:solidFill>
                  <a:schemeClr val="accent2">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s-ES" dirty="0" smtClean="0"/>
              <a:t>Interbloqueos</a:t>
            </a:r>
            <a:endParaRPr lang="es-ES" dirty="0"/>
          </a:p>
        </p:txBody>
      </p:sp>
      <p:sp>
        <p:nvSpPr>
          <p:cNvPr id="3" name="Marcador de contenido 2"/>
          <p:cNvSpPr txBox="1">
            <a:spLocks/>
          </p:cNvSpPr>
          <p:nvPr/>
        </p:nvSpPr>
        <p:spPr>
          <a:xfrm>
            <a:off x="2589212" y="2133600"/>
            <a:ext cx="8915400" cy="3777622"/>
          </a:xfrm>
          <a:prstGeom prst="rect">
            <a:avLst/>
          </a:prstGeom>
        </p:spPr>
        <p:txBody>
          <a:bodyPr>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r>
              <a:rPr lang="es-ES" sz="2400" dirty="0" smtClean="0"/>
              <a:t>Se producen cuando dos procesadores quedan bloqueados esperando que el uno le envíe algo al otro mientras éste hace lo mismo.</a:t>
            </a:r>
          </a:p>
          <a:p>
            <a:r>
              <a:rPr lang="es-ES" sz="2400" dirty="0" smtClean="0"/>
              <a:t>Métodos para tratarlos:</a:t>
            </a:r>
          </a:p>
          <a:p>
            <a:pPr lvl="1"/>
            <a:r>
              <a:rPr lang="es-ES" sz="2200" dirty="0" smtClean="0"/>
              <a:t>Evitar situaciones que produzcan interbloqueos (Más rigurosa).</a:t>
            </a:r>
          </a:p>
          <a:p>
            <a:pPr lvl="1"/>
            <a:r>
              <a:rPr lang="es-ES" sz="2200" dirty="0" smtClean="0"/>
              <a:t>Una vez se produce un interbloqueo saber detectarlo y solventarlo (más laxa)</a:t>
            </a:r>
          </a:p>
          <a:p>
            <a:pPr marL="0" indent="0">
              <a:buNone/>
            </a:pPr>
            <a:endParaRPr lang="es-ES" sz="2400" dirty="0"/>
          </a:p>
        </p:txBody>
      </p:sp>
    </p:spTree>
    <p:extLst>
      <p:ext uri="{BB962C8B-B14F-4D97-AF65-F5344CB8AC3E}">
        <p14:creationId xmlns:p14="http://schemas.microsoft.com/office/powerpoint/2010/main" val="204084557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txBox="1">
            <a:spLocks/>
          </p:cNvSpPr>
          <p:nvPr/>
        </p:nvSpPr>
        <p:spPr>
          <a:xfrm>
            <a:off x="2592925" y="624110"/>
            <a:ext cx="8911687" cy="1280890"/>
          </a:xfrm>
          <a:prstGeom prst="rect">
            <a:avLst/>
          </a:prstGeom>
        </p:spPr>
        <p:txBody>
          <a:bodyPr/>
          <a:lstStyle>
            <a:lvl1pPr algn="l" defTabSz="457200" rtl="0" eaLnBrk="1" latinLnBrk="0" hangingPunct="1">
              <a:spcBef>
                <a:spcPct val="0"/>
              </a:spcBef>
              <a:buNone/>
              <a:defRPr sz="3600" kern="1200">
                <a:solidFill>
                  <a:schemeClr val="accent2">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s-ES" dirty="0" smtClean="0"/>
              <a:t>Comunicación no bloqueante</a:t>
            </a:r>
            <a:endParaRPr lang="es-ES" dirty="0"/>
          </a:p>
        </p:txBody>
      </p:sp>
      <p:sp>
        <p:nvSpPr>
          <p:cNvPr id="3" name="Marcador de contenido 2"/>
          <p:cNvSpPr txBox="1">
            <a:spLocks/>
          </p:cNvSpPr>
          <p:nvPr/>
        </p:nvSpPr>
        <p:spPr>
          <a:xfrm>
            <a:off x="2589212" y="2133600"/>
            <a:ext cx="8915400" cy="3777622"/>
          </a:xfrm>
          <a:prstGeom prst="rect">
            <a:avLst/>
          </a:prstGeom>
        </p:spPr>
        <p:txBody>
          <a:bodyPr>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r>
              <a:rPr lang="es-ES" sz="2400" dirty="0" err="1" smtClean="0"/>
              <a:t>MPI_Isend</a:t>
            </a:r>
            <a:r>
              <a:rPr lang="es-ES" sz="2400" dirty="0" smtClean="0"/>
              <a:t> y </a:t>
            </a:r>
            <a:r>
              <a:rPr lang="es-ES" sz="2400" dirty="0" err="1" smtClean="0"/>
              <a:t>MPI_Irecv</a:t>
            </a:r>
            <a:r>
              <a:rPr lang="es-ES" sz="2400" dirty="0" smtClean="0"/>
              <a:t>.</a:t>
            </a:r>
          </a:p>
          <a:p>
            <a:endParaRPr lang="es-ES" sz="2400" dirty="0"/>
          </a:p>
          <a:p>
            <a:r>
              <a:rPr lang="es-ES" sz="2400" dirty="0" smtClean="0"/>
              <a:t>Problemas:</a:t>
            </a:r>
          </a:p>
          <a:p>
            <a:pPr lvl="1"/>
            <a:r>
              <a:rPr lang="es-ES" sz="2400" dirty="0" smtClean="0"/>
              <a:t>Pérdida de información por sobrescribir un buffer no leído.</a:t>
            </a:r>
          </a:p>
          <a:p>
            <a:pPr lvl="1"/>
            <a:r>
              <a:rPr lang="es-ES" sz="2400" dirty="0" smtClean="0"/>
              <a:t>Necesidad de varios </a:t>
            </a:r>
            <a:r>
              <a:rPr lang="es-ES" sz="2400" dirty="0" err="1" smtClean="0"/>
              <a:t>bufferes</a:t>
            </a:r>
            <a:r>
              <a:rPr lang="es-ES" sz="2400" dirty="0" smtClean="0"/>
              <a:t> para mantener múltiples recepciones de </a:t>
            </a:r>
            <a:r>
              <a:rPr lang="es-ES" sz="2400" smtClean="0"/>
              <a:t>información simultáneas.</a:t>
            </a:r>
            <a:endParaRPr lang="es-ES" sz="2400" dirty="0"/>
          </a:p>
          <a:p>
            <a:pPr lvl="1"/>
            <a:endParaRPr lang="es-ES" sz="2400" dirty="0"/>
          </a:p>
          <a:p>
            <a:pPr lvl="1"/>
            <a:endParaRPr lang="es-ES" sz="2200" dirty="0" smtClean="0"/>
          </a:p>
          <a:p>
            <a:pPr lvl="1"/>
            <a:endParaRPr lang="es-ES" sz="2200" dirty="0"/>
          </a:p>
        </p:txBody>
      </p:sp>
    </p:spTree>
    <p:extLst>
      <p:ext uri="{BB962C8B-B14F-4D97-AF65-F5344CB8AC3E}">
        <p14:creationId xmlns:p14="http://schemas.microsoft.com/office/powerpoint/2010/main" val="395080004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018503754"/>
      </p:ext>
    </p:extLst>
  </p:cSld>
  <p:clrMapOvr>
    <a:masterClrMapping/>
  </p:clrMapOvr>
</p:sld>
</file>

<file path=ppt/theme/theme1.xml><?xml version="1.0" encoding="utf-8"?>
<a:theme xmlns:a="http://schemas.openxmlformats.org/drawingml/2006/main" name="Espiral">
  <a:themeElements>
    <a:clrScheme name="Wisp">
      <a:dk1>
        <a:sysClr val="windowText" lastClr="000000"/>
      </a:dk1>
      <a:lt1>
        <a:sysClr val="window" lastClr="FFFFFF"/>
      </a:lt1>
      <a:dk2>
        <a:srgbClr val="2E5369"/>
      </a:dk2>
      <a:lt2>
        <a:srgbClr val="CFE2E7"/>
      </a:lt2>
      <a:accent1>
        <a:srgbClr val="353535"/>
      </a:accent1>
      <a:accent2>
        <a:srgbClr val="31B4E6"/>
      </a:accent2>
      <a:accent3>
        <a:srgbClr val="265991"/>
      </a:accent3>
      <a:accent4>
        <a:srgbClr val="7E40CC"/>
      </a:accent4>
      <a:accent5>
        <a:srgbClr val="B927E9"/>
      </a:accent5>
      <a:accent6>
        <a:srgbClr val="E833BF"/>
      </a:accent6>
      <a:hlink>
        <a:srgbClr val="2DA0F1"/>
      </a:hlink>
      <a:folHlink>
        <a:srgbClr val="7ED1E6"/>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4F34B87B-9C7A-41AE-A6CB-48536223DFFD}"/>
    </a:ext>
  </a:extLst>
</a:theme>
</file>

<file path=docProps/app.xml><?xml version="1.0" encoding="utf-8"?>
<Properties xmlns="http://schemas.openxmlformats.org/officeDocument/2006/extended-properties" xmlns:vt="http://schemas.openxmlformats.org/officeDocument/2006/docPropsVTypes">
  <Template>Wisp</Template>
  <TotalTime>975</TotalTime>
  <Words>507</Words>
  <Application>Microsoft Office PowerPoint</Application>
  <PresentationFormat>Panorámica</PresentationFormat>
  <Paragraphs>113</Paragraphs>
  <Slides>24</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24</vt:i4>
      </vt:variant>
    </vt:vector>
  </HeadingPairs>
  <TitlesOfParts>
    <vt:vector size="28" baseType="lpstr">
      <vt:lpstr>Arial</vt:lpstr>
      <vt:lpstr>Century Gothic</vt:lpstr>
      <vt:lpstr>Wingdings 3</vt:lpstr>
      <vt:lpstr>Espiral</vt:lpstr>
      <vt:lpstr>PUZZLE 1</vt:lpstr>
      <vt:lpstr>Comunicaciones Colectivas</vt:lpstr>
      <vt:lpstr>Comunicaciones Colectivas</vt:lpstr>
      <vt:lpstr>Comunicaciones Colectivas</vt:lpstr>
      <vt:lpstr>Comunicaciones Colectivas</vt:lpstr>
      <vt:lpstr>Comunicaciones Colectivas</vt:lpstr>
      <vt:lpstr>Comunicaciones Colectivas</vt:lpstr>
      <vt:lpstr>Comunicaciones Colectivas</vt:lpstr>
      <vt:lpstr>Comunicaciones Colectivas</vt:lpstr>
      <vt:lpstr>Comunicaciones Colectivas</vt:lpstr>
      <vt:lpstr>Comunicaciones Colectivas</vt:lpstr>
      <vt:lpstr>Tipos de Datos Derivados y Comunicadores</vt:lpstr>
      <vt:lpstr>Tipos de Datos Derivados y Comunicadores</vt:lpstr>
      <vt:lpstr>Tipos de Datos Derivados y Comunicadores</vt:lpstr>
      <vt:lpstr>Tipos de Datos Derivados y Comunicadores</vt:lpstr>
      <vt:lpstr>Tipos de Datos Derivados y Comunicadores</vt:lpstr>
      <vt:lpstr>Tipos de Datos Derivados y Comunicadores</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PUZZLE 1</dc:title>
  <dc:creator>Mikel</dc:creator>
  <cp:lastModifiedBy>Mikel</cp:lastModifiedBy>
  <cp:revision>20</cp:revision>
  <dcterms:created xsi:type="dcterms:W3CDTF">2016-04-04T17:15:34Z</dcterms:created>
  <dcterms:modified xsi:type="dcterms:W3CDTF">2016-04-05T15:07:32Z</dcterms:modified>
</cp:coreProperties>
</file>